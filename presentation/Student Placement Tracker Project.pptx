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vani — Introduction &amp; Demo" id="{B098E989-83D1-55A4-6B31-07B6713F2E90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Suma — Database" id="{8C2E5C32-AB3B-1DAB-322A-5BF8AEF6565D}">
          <p14:sldIdLst>
            <p14:sldId id="262"/>
            <p14:sldId id="263"/>
            <p14:sldId id="264"/>
          </p14:sldIdLst>
        </p14:section>
        <p14:section name="Anusha — Backend, CRUD, Integration &amp; Testing" id="{326B6C7C-F381-516C-61C9-2A89F7E88636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Team &amp; Q&amp;A" id="{1F7E1DB5-19E2-C2CD-65D2-C78AAA612F3E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7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Pavani. Introduce the team and the project. Pavani starts, Suma covers the database, Anusha covers backend, CRUD operations, integration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Pavani. Explain the problem and our solution, then the six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Pavani. Go through each card: language, frontend, backend, database, driver and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Pavani. Switch to the browser and run the live demo. Slides 5 and 6 are backup if the demo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Pavani. Backup: point to the numbered markers on the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Pavani. Backup screenshots. Students, Interviews, Offers and Tasks work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Suma. Six tables, each with one partition key. No joins: parent IDs are stored on child items, with a GSI 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Suma. Show a real JSON item, then how records connect through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Suma. No AWS account needed. Port 8002 on our PC maps to 8000 in the container. Named volume keeps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Anusha. Three tiers, left to right, and three reasons for this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Anusha. One shared client used by every service; route → controller → service → DynamoDB.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Anusha. I implemented full CRUD, plus GSI queries, transactions and table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Anusha. Example: a Dell QA Analyst application moves Applied → Interview → Offer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Anusha. NoSQL has no ON DELETE CASCADE, so studentService.deleteStudent does it in one transaction.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Anusha. Manual end-to-end tests; destructive tests only on temporary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All three. Each person says one or two lines about their own part: Pavani, then Suma, then Anusha.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Anusha (moderates Q&amp;A). Summarize what we learned, then take questions and pass each to the owner of that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4303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400" b="1" dirty="0">
                <a:solidFill>
                  <a:srgbClr val="1F4E79"/>
                </a:solidFill>
              </a:defRPr>
            </a:lvl1pPr>
          </a:lstStyle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154680"/>
            <a:ext cx="10543032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rgbClr val="404040"/>
                </a:solidFill>
              </a:defRPr>
            </a:lvl1pPr>
          </a:lstStyle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F4E79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svg"/><Relationship Id="rId4" Type="http://schemas.openxmlformats.org/officeDocument/2006/relationships/image" Target="../media/image2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3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wave"/>
          <p:cNvSpPr/>
          <p:nvPr/>
        </p:nvSpPr>
        <p:spPr>
          <a:xfrm>
            <a:off x="0" y="0"/>
            <a:ext cx="12191695" cy="1371600"/>
          </a:xfrm>
          <a:custGeom>
            <a:avLst/>
            <a:gdLst/>
            <a:ahLst/>
            <a:cxnLst/>
            <a:rect l="l" t="t" r="r" b="b"/>
            <a:pathLst>
              <a:path w="12191695" h="1371600">
                <a:moveTo>
                  <a:pt x="0" y="0"/>
                </a:moveTo>
                <a:lnTo>
                  <a:pt x="12188952" y="0"/>
                </a:lnTo>
                <a:lnTo>
                  <a:pt x="12188952" y="548640"/>
                </a:lnTo>
                <a:cubicBezTo>
                  <a:pt x="10058400" y="1005840"/>
                  <a:pt x="8229600" y="274320"/>
                  <a:pt x="6089904" y="731520"/>
                </a:cubicBezTo>
                <a:cubicBezTo>
                  <a:pt x="3840480" y="1188720"/>
                  <a:pt x="2011680" y="365760"/>
                  <a:pt x="0" y="822960"/>
                </a:cubicBezTo>
                <a:close/>
              </a:path>
            </a:pathLst>
          </a:cu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wave light"/>
          <p:cNvSpPr/>
          <p:nvPr/>
        </p:nvSpPr>
        <p:spPr>
          <a:xfrm>
            <a:off x="0" y="4572000"/>
            <a:ext cx="12191695" cy="2286000"/>
          </a:xfrm>
          <a:custGeom>
            <a:avLst/>
            <a:gdLst/>
            <a:ahLst/>
            <a:cxnLst/>
            <a:rect l="l" t="t" r="r" b="b"/>
            <a:pathLst>
              <a:path w="12191695" h="2286000">
                <a:moveTo>
                  <a:pt x="0" y="640080"/>
                </a:moveTo>
                <a:cubicBezTo>
                  <a:pt x="2011680" y="91440"/>
                  <a:pt x="3840480" y="1097280"/>
                  <a:pt x="6089904" y="640080"/>
                </a:cubicBezTo>
                <a:cubicBezTo>
                  <a:pt x="8229600" y="182880"/>
                  <a:pt x="10058400" y="1005840"/>
                  <a:pt x="12188952" y="457200"/>
                </a:cubicBezTo>
                <a:lnTo>
                  <a:pt x="12188952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wave mid"/>
          <p:cNvSpPr/>
          <p:nvPr/>
        </p:nvSpPr>
        <p:spPr>
          <a:xfrm>
            <a:off x="0" y="4572000"/>
            <a:ext cx="12191695" cy="2286000"/>
          </a:xfrm>
          <a:custGeom>
            <a:avLst/>
            <a:gdLst/>
            <a:ahLst/>
            <a:cxnLst/>
            <a:rect l="l" t="t" r="r" b="b"/>
            <a:pathLst>
              <a:path w="12191695" h="2286000">
                <a:moveTo>
                  <a:pt x="0" y="1188720"/>
                </a:moveTo>
                <a:cubicBezTo>
                  <a:pt x="2286000" y="640080"/>
                  <a:pt x="4114800" y="1554480"/>
                  <a:pt x="6400800" y="1097280"/>
                </a:cubicBezTo>
                <a:cubicBezTo>
                  <a:pt x="8686800" y="640080"/>
                  <a:pt x="10515600" y="1463040"/>
                  <a:pt x="12188952" y="1005840"/>
                </a:cubicBezTo>
                <a:lnTo>
                  <a:pt x="12188952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wave dark"/>
          <p:cNvSpPr/>
          <p:nvPr/>
        </p:nvSpPr>
        <p:spPr>
          <a:xfrm>
            <a:off x="0" y="4572000"/>
            <a:ext cx="12191695" cy="2286000"/>
          </a:xfrm>
          <a:custGeom>
            <a:avLst/>
            <a:gdLst/>
            <a:ahLst/>
            <a:cxnLst/>
            <a:rect l="l" t="t" r="r" b="b"/>
            <a:pathLst>
              <a:path w="12191695" h="2286000">
                <a:moveTo>
                  <a:pt x="0" y="1691640"/>
                </a:moveTo>
                <a:cubicBezTo>
                  <a:pt x="2377440" y="1280160"/>
                  <a:pt x="4389120" y="2011680"/>
                  <a:pt x="6583680" y="1645920"/>
                </a:cubicBezTo>
                <a:cubicBezTo>
                  <a:pt x="8778240" y="1280160"/>
                  <a:pt x="10515600" y="1920240"/>
                  <a:pt x="12188952" y="1554480"/>
                </a:cubicBezTo>
                <a:lnTo>
                  <a:pt x="12188952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4E79"/>
                </a:solidFill>
              </a:rPr>
              <a:t>Student Placement Tracker</a:t>
            </a:r>
            <a:endParaRPr lang="en-US" sz="4400" dirty="0"/>
          </a:p>
        </p:txBody>
      </p:sp>
      <p:sp>
        <p:nvSpPr>
          <p:cNvPr id="7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154680"/>
            <a:ext cx="10543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E75B6"/>
                </a:solidFill>
              </a:rPr>
              <a:t>PlacementHub – A NoSQL Database Project</a:t>
            </a:r>
            <a:endParaRPr lang="en-US" sz="1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04040"/>
                </a:solidFill>
              </a:rPr>
              <a:t> 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404040"/>
                </a:solidFill>
              </a:rPr>
              <a:t>Team Members: Pavani, Suma, Anusha Madari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404040"/>
                </a:solidFill>
              </a:rPr>
              <a:t>NoSQL Database Course  | 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wave light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201168"/>
                </a:moveTo>
                <a:cubicBezTo>
                  <a:pt x="2286000" y="0"/>
                  <a:pt x="4114800" y="365760"/>
                  <a:pt x="6400800" y="164592"/>
                </a:cubicBezTo>
                <a:cubicBezTo>
                  <a:pt x="8686800" y="0"/>
                  <a:pt x="10515600" y="320040"/>
                  <a:pt x="12188952" y="109728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wave dark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347472"/>
                </a:moveTo>
                <a:cubicBezTo>
                  <a:pt x="2377440" y="164592"/>
                  <a:pt x="4389120" y="502920"/>
                  <a:pt x="6583680" y="320040"/>
                </a:cubicBezTo>
                <a:cubicBezTo>
                  <a:pt x="8778240" y="164592"/>
                  <a:pt x="10515600" y="457200"/>
                  <a:pt x="12188952" y="274320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Placement Tracker  |  NoSQL Database Project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What is the Project?</a:t>
            </a:r>
            <a:endParaRPr lang="en-US" sz="3200" dirty="0"/>
          </a:p>
        </p:txBody>
      </p:sp>
      <p:sp>
        <p:nvSpPr>
          <p:cNvPr id="6" name="problem card"/>
          <p:cNvSpPr/>
          <p:nvPr/>
        </p:nvSpPr>
        <p:spPr>
          <a:xfrm>
            <a:off x="548640" y="13716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icon circle"/>
          <p:cNvSpPr/>
          <p:nvPr/>
        </p:nvSpPr>
        <p:spPr>
          <a:xfrm>
            <a:off x="777240" y="1600200"/>
            <a:ext cx="731520" cy="7315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120" y="17830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15727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</a:rPr>
              <a:t>The Problem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0116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2626"/>
                </a:solidFill>
              </a:rPr>
              <a:t>Placement details live in spreadsheets and notes – hard to track applications, interviews, offers and deadlines.</a:t>
            </a:r>
            <a:endParaRPr lang="en-US" sz="1500" dirty="0"/>
          </a:p>
        </p:txBody>
      </p:sp>
      <p:sp>
        <p:nvSpPr>
          <p:cNvPr id="11" name="arrow"/>
          <p:cNvSpPr/>
          <p:nvPr/>
        </p:nvSpPr>
        <p:spPr>
          <a:xfrm>
            <a:off x="6080760" y="2194560"/>
            <a:ext cx="457200" cy="347472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olution card"/>
          <p:cNvSpPr/>
          <p:nvPr/>
        </p:nvSpPr>
        <p:spPr>
          <a:xfrm>
            <a:off x="6675120" y="1371600"/>
            <a:ext cx="4983480" cy="1965960"/>
          </a:xfrm>
          <a:prstGeom prst="roundRect">
            <a:avLst>
              <a:gd name="adj" fmla="val 465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icon circle"/>
          <p:cNvSpPr/>
          <p:nvPr/>
        </p:nvSpPr>
        <p:spPr>
          <a:xfrm>
            <a:off x="6903720" y="16002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6600" y="17830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863840" y="1572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Our Solution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7863840" y="2011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PlacementHub – one web app that keeps every placement record together, stored in DynamoDB.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Six modules</a:t>
            </a:r>
            <a:endParaRPr lang="en-US" sz="1800" dirty="0"/>
          </a:p>
        </p:txBody>
      </p:sp>
      <p:sp>
        <p:nvSpPr>
          <p:cNvPr id="18" name="module tile"/>
          <p:cNvSpPr/>
          <p:nvPr/>
        </p:nvSpPr>
        <p:spPr>
          <a:xfrm>
            <a:off x="548640" y="4069080"/>
            <a:ext cx="1737360" cy="2011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icon circle"/>
          <p:cNvSpPr/>
          <p:nvPr/>
        </p:nvSpPr>
        <p:spPr>
          <a:xfrm>
            <a:off x="1097280" y="4251960"/>
            <a:ext cx="640080" cy="6400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7300" y="441198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0080" y="4983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Dashboard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5349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Counts and stages</a:t>
            </a:r>
            <a:endParaRPr lang="en-US" sz="1200" dirty="0"/>
          </a:p>
        </p:txBody>
      </p:sp>
      <p:sp>
        <p:nvSpPr>
          <p:cNvPr id="23" name="module tile"/>
          <p:cNvSpPr/>
          <p:nvPr/>
        </p:nvSpPr>
        <p:spPr>
          <a:xfrm>
            <a:off x="2423160" y="4069080"/>
            <a:ext cx="1737360" cy="2011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icon circle"/>
          <p:cNvSpPr/>
          <p:nvPr/>
        </p:nvSpPr>
        <p:spPr>
          <a:xfrm>
            <a:off x="2971800" y="4251960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31820" y="441198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514600" y="4983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Students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2514600" y="5349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Profiles</a:t>
            </a:r>
            <a:endParaRPr lang="en-US" sz="1200" dirty="0"/>
          </a:p>
        </p:txBody>
      </p:sp>
      <p:sp>
        <p:nvSpPr>
          <p:cNvPr id="28" name="module tile"/>
          <p:cNvSpPr/>
          <p:nvPr/>
        </p:nvSpPr>
        <p:spPr>
          <a:xfrm>
            <a:off x="4297680" y="4069080"/>
            <a:ext cx="1737360" cy="2011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icon circle"/>
          <p:cNvSpPr/>
          <p:nvPr/>
        </p:nvSpPr>
        <p:spPr>
          <a:xfrm>
            <a:off x="4846320" y="4251960"/>
            <a:ext cx="640080" cy="6400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06340" y="441198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389120" y="4983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Applications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4389120" y="5349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Company, role, status</a:t>
            </a:r>
            <a:endParaRPr lang="en-US" sz="1200" dirty="0"/>
          </a:p>
        </p:txBody>
      </p:sp>
      <p:sp>
        <p:nvSpPr>
          <p:cNvPr id="33" name="module tile"/>
          <p:cNvSpPr/>
          <p:nvPr/>
        </p:nvSpPr>
        <p:spPr>
          <a:xfrm>
            <a:off x="6172200" y="4069080"/>
            <a:ext cx="1737360" cy="2011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icon circle"/>
          <p:cNvSpPr/>
          <p:nvPr/>
        </p:nvSpPr>
        <p:spPr>
          <a:xfrm>
            <a:off x="6720840" y="4251960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80860" y="4411980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263640" y="4983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Interviews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6263640" y="5349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Date, type, notes</a:t>
            </a:r>
            <a:endParaRPr lang="en-US" sz="1200" dirty="0"/>
          </a:p>
        </p:txBody>
      </p:sp>
      <p:sp>
        <p:nvSpPr>
          <p:cNvPr id="38" name="module tile"/>
          <p:cNvSpPr/>
          <p:nvPr/>
        </p:nvSpPr>
        <p:spPr>
          <a:xfrm>
            <a:off x="8046720" y="4069080"/>
            <a:ext cx="1737360" cy="2011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icon circle"/>
          <p:cNvSpPr/>
          <p:nvPr/>
        </p:nvSpPr>
        <p:spPr>
          <a:xfrm>
            <a:off x="8595360" y="4251960"/>
            <a:ext cx="640080" cy="6400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55380" y="4411980"/>
            <a:ext cx="320040" cy="32004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138160" y="4983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Offers</a:t>
            </a:r>
            <a:endParaRPr lang="en-US" sz="1500" dirty="0"/>
          </a:p>
        </p:txBody>
      </p:sp>
      <p:sp>
        <p:nvSpPr>
          <p:cNvPr id="42" name="Text 33"/>
          <p:cNvSpPr txBox="1"/>
          <p:nvPr/>
        </p:nvSpPr>
        <p:spPr>
          <a:xfrm>
            <a:off x="8138160" y="5349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Salary, decision</a:t>
            </a:r>
            <a:endParaRPr lang="en-US" sz="1200" dirty="0"/>
          </a:p>
        </p:txBody>
      </p:sp>
      <p:sp>
        <p:nvSpPr>
          <p:cNvPr id="43" name="module tile"/>
          <p:cNvSpPr/>
          <p:nvPr/>
        </p:nvSpPr>
        <p:spPr>
          <a:xfrm>
            <a:off x="9921240" y="4069080"/>
            <a:ext cx="1737360" cy="2011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icon circle"/>
          <p:cNvSpPr/>
          <p:nvPr/>
        </p:nvSpPr>
        <p:spPr>
          <a:xfrm>
            <a:off x="10469880" y="4251960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29900" y="4411980"/>
            <a:ext cx="320040" cy="32004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0012680" y="4983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Tasks</a:t>
            </a:r>
            <a:endParaRPr lang="en-US" sz="1500" dirty="0"/>
          </a:p>
        </p:txBody>
      </p:sp>
      <p:sp>
        <p:nvSpPr>
          <p:cNvPr id="47" name="Text 37"/>
          <p:cNvSpPr txBox="1"/>
          <p:nvPr/>
        </p:nvSpPr>
        <p:spPr>
          <a:xfrm>
            <a:off x="10012680" y="5349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Priority, due date</a:t>
            </a:r>
            <a:endParaRPr lang="en-US" sz="12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wave light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201168"/>
                </a:moveTo>
                <a:cubicBezTo>
                  <a:pt x="2286000" y="0"/>
                  <a:pt x="4114800" y="365760"/>
                  <a:pt x="6400800" y="164592"/>
                </a:cubicBezTo>
                <a:cubicBezTo>
                  <a:pt x="8686800" y="0"/>
                  <a:pt x="10515600" y="320040"/>
                  <a:pt x="12188952" y="109728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wave dark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347472"/>
                </a:moveTo>
                <a:cubicBezTo>
                  <a:pt x="2377440" y="164592"/>
                  <a:pt x="4389120" y="502920"/>
                  <a:pt x="6583680" y="320040"/>
                </a:cubicBezTo>
                <a:cubicBezTo>
                  <a:pt x="8778240" y="164592"/>
                  <a:pt x="10515600" y="457200"/>
                  <a:pt x="12188952" y="274320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Placement Tracker  |  NoSQL Database Project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Technologies Used</a:t>
            </a:r>
            <a:endParaRPr lang="en-US" sz="3200" dirty="0"/>
          </a:p>
        </p:txBody>
      </p:sp>
      <p:sp>
        <p:nvSpPr>
          <p:cNvPr id="6" name="tech card"/>
          <p:cNvSpPr/>
          <p:nvPr/>
        </p:nvSpPr>
        <p:spPr>
          <a:xfrm>
            <a:off x="548640" y="141732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icon circle"/>
          <p:cNvSpPr/>
          <p:nvPr/>
        </p:nvSpPr>
        <p:spPr>
          <a:xfrm>
            <a:off x="822960" y="1691640"/>
            <a:ext cx="868680" cy="8686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130" y="1908810"/>
            <a:ext cx="434340" cy="4343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7452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Language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874520" y="21031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JavaScript, JSX, CSS</a:t>
            </a:r>
            <a:endParaRPr lang="en-US" sz="1800" dirty="0"/>
          </a:p>
        </p:txBody>
      </p:sp>
      <p:sp>
        <p:nvSpPr>
          <p:cNvPr id="11" name="tech card"/>
          <p:cNvSpPr/>
          <p:nvPr/>
        </p:nvSpPr>
        <p:spPr>
          <a:xfrm>
            <a:off x="4297680" y="141732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icon circle"/>
          <p:cNvSpPr/>
          <p:nvPr/>
        </p:nvSpPr>
        <p:spPr>
          <a:xfrm>
            <a:off x="4572000" y="1691640"/>
            <a:ext cx="868680" cy="8686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9170" y="1908810"/>
            <a:ext cx="434340" cy="4343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2356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Frontend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623560" y="21031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React 18 · Vite · React Router</a:t>
            </a:r>
            <a:endParaRPr lang="en-US" sz="1800" dirty="0"/>
          </a:p>
        </p:txBody>
      </p:sp>
      <p:sp>
        <p:nvSpPr>
          <p:cNvPr id="16" name="tech card"/>
          <p:cNvSpPr/>
          <p:nvPr/>
        </p:nvSpPr>
        <p:spPr>
          <a:xfrm>
            <a:off x="8046720" y="141732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con circle"/>
          <p:cNvSpPr/>
          <p:nvPr/>
        </p:nvSpPr>
        <p:spPr>
          <a:xfrm>
            <a:off x="8321040" y="1691640"/>
            <a:ext cx="868680" cy="8686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38210" y="1908810"/>
            <a:ext cx="434340" cy="4343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37260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Backend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9372600" y="21031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Node.js · Express.js REST API</a:t>
            </a:r>
            <a:endParaRPr lang="en-US" sz="1800" dirty="0"/>
          </a:p>
        </p:txBody>
      </p:sp>
      <p:sp>
        <p:nvSpPr>
          <p:cNvPr id="21" name="tech card"/>
          <p:cNvSpPr/>
          <p:nvPr/>
        </p:nvSpPr>
        <p:spPr>
          <a:xfrm>
            <a:off x="548640" y="37947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icon circle"/>
          <p:cNvSpPr/>
          <p:nvPr/>
        </p:nvSpPr>
        <p:spPr>
          <a:xfrm>
            <a:off x="822960" y="4069080"/>
            <a:ext cx="868680" cy="8686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130" y="4286250"/>
            <a:ext cx="434340" cy="4343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87452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Database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874520" y="44805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Amazon DynamoDB Local (NoSQL)</a:t>
            </a:r>
            <a:endParaRPr lang="en-US" sz="1800" dirty="0"/>
          </a:p>
        </p:txBody>
      </p:sp>
      <p:sp>
        <p:nvSpPr>
          <p:cNvPr id="26" name="tech card"/>
          <p:cNvSpPr/>
          <p:nvPr/>
        </p:nvSpPr>
        <p:spPr>
          <a:xfrm>
            <a:off x="4297680" y="37947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icon circle"/>
          <p:cNvSpPr/>
          <p:nvPr/>
        </p:nvSpPr>
        <p:spPr>
          <a:xfrm>
            <a:off x="4572000" y="4069080"/>
            <a:ext cx="868680" cy="8686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89170" y="4286250"/>
            <a:ext cx="434340" cy="4343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62356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Database driver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5623560" y="44805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AWS SDK for JavaScript v3</a:t>
            </a:r>
            <a:endParaRPr lang="en-US" sz="1800" dirty="0"/>
          </a:p>
        </p:txBody>
      </p:sp>
      <p:sp>
        <p:nvSpPr>
          <p:cNvPr id="31" name="tech card"/>
          <p:cNvSpPr/>
          <p:nvPr/>
        </p:nvSpPr>
        <p:spPr>
          <a:xfrm>
            <a:off x="8046720" y="37947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icon circle"/>
          <p:cNvSpPr/>
          <p:nvPr/>
        </p:nvSpPr>
        <p:spPr>
          <a:xfrm>
            <a:off x="8321040" y="4069080"/>
            <a:ext cx="868680" cy="8686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8210" y="4286250"/>
            <a:ext cx="434340" cy="43434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37260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Tools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9372600" y="44805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Docker · VS Code · Git · GitHub</a:t>
            </a:r>
            <a:endParaRPr lang="en-US" sz="18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wave light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201168"/>
                </a:moveTo>
                <a:cubicBezTo>
                  <a:pt x="2286000" y="0"/>
                  <a:pt x="4114800" y="365760"/>
                  <a:pt x="6400800" y="164592"/>
                </a:cubicBezTo>
                <a:cubicBezTo>
                  <a:pt x="8686800" y="0"/>
                  <a:pt x="10515600" y="320040"/>
                  <a:pt x="12188952" y="109728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wave dark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347472"/>
                </a:moveTo>
                <a:cubicBezTo>
                  <a:pt x="2377440" y="164592"/>
                  <a:pt x="4389120" y="502920"/>
                  <a:pt x="6583680" y="320040"/>
                </a:cubicBezTo>
                <a:cubicBezTo>
                  <a:pt x="8778240" y="164592"/>
                  <a:pt x="10515600" y="457200"/>
                  <a:pt x="12188952" y="274320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Placement Tracker  |  NoSQL Database Project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Project Demonstration</a:t>
            </a:r>
            <a:endParaRPr lang="en-US" sz="3200" dirty="0"/>
          </a:p>
        </p:txBody>
      </p:sp>
      <p:sp>
        <p:nvSpPr>
          <p:cNvPr id="6" name="timeline line"/>
          <p:cNvSpPr/>
          <p:nvPr/>
        </p:nvSpPr>
        <p:spPr>
          <a:xfrm>
            <a:off x="777240" y="1600200"/>
            <a:ext cx="0" cy="4206240"/>
          </a:xfrm>
          <a:prstGeom prst="line">
            <a:avLst/>
          </a:prstGeom>
          <a:noFill/>
          <a:ln w="381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umber circle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371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</a:rPr>
              <a:t>Dashboard with live counts</a:t>
            </a:r>
            <a:endParaRPr lang="en-US" sz="1700" dirty="0"/>
          </a:p>
        </p:txBody>
      </p:sp>
      <p:sp>
        <p:nvSpPr>
          <p:cNvPr id="10" name="number circle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148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</a:rPr>
              <a:t>Filter by student</a:t>
            </a:r>
            <a:endParaRPr lang="en-US" sz="1700" dirty="0"/>
          </a:p>
        </p:txBody>
      </p:sp>
      <p:sp>
        <p:nvSpPr>
          <p:cNvPr id="13" name="number circle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926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</a:rPr>
              <a:t>Search and filter applications</a:t>
            </a:r>
            <a:endParaRPr lang="en-US" sz="1700" dirty="0"/>
          </a:p>
        </p:txBody>
      </p:sp>
      <p:sp>
        <p:nvSpPr>
          <p:cNvPr id="16" name="number circle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703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</a:rPr>
              <a:t>Add a new application</a:t>
            </a:r>
            <a:endParaRPr lang="en-US" sz="1700" dirty="0"/>
          </a:p>
        </p:txBody>
      </p:sp>
      <p:sp>
        <p:nvSpPr>
          <p:cNvPr id="19" name="number circle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</a:rPr>
              <a:t>Refresh – data still saved</a:t>
            </a:r>
            <a:endParaRPr lang="en-US" sz="1700" dirty="0"/>
          </a:p>
        </p:txBody>
      </p:sp>
      <p:sp>
        <p:nvSpPr>
          <p:cNvPr id="22" name="number circle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5257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</a:rPr>
              <a:t>Add an interview – status updates</a:t>
            </a:r>
            <a:endParaRPr lang="en-US" sz="1700" dirty="0"/>
          </a:p>
        </p:txBody>
      </p:sp>
      <p:sp>
        <p:nvSpPr>
          <p:cNvPr id="25" name="screenshot frame"/>
          <p:cNvSpPr/>
          <p:nvPr/>
        </p:nvSpPr>
        <p:spPr>
          <a:xfrm>
            <a:off x="5760720" y="1325880"/>
            <a:ext cx="5897880" cy="4343400"/>
          </a:xfrm>
          <a:prstGeom prst="roundRect">
            <a:avLst>
              <a:gd name="adj" fmla="val 2105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students page screenshot" descr="/tmp/claude-0/-home-claude/f5a9ce10-c4e4-5bb8-8020-e03c6c8d8949/scratchpad/shots/studen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783080"/>
            <a:ext cx="5440680" cy="3401568"/>
          </a:xfrm>
          <a:prstGeom prst="rect">
            <a:avLst/>
          </a:prstGeom>
        </p:spPr>
      </p:pic>
      <p:sp>
        <p:nvSpPr>
          <p:cNvPr id="27" name="tag"/>
          <p:cNvSpPr/>
          <p:nvPr/>
        </p:nvSpPr>
        <p:spPr>
          <a:xfrm>
            <a:off x="5989320" y="137160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989320" y="1371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● LIVE DEMO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760720" y="5760720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95959"/>
                </a:solidFill>
              </a:rPr>
              <a:t>We switch to the running app now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wave light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201168"/>
                </a:moveTo>
                <a:cubicBezTo>
                  <a:pt x="2286000" y="0"/>
                  <a:pt x="4114800" y="365760"/>
                  <a:pt x="6400800" y="164592"/>
                </a:cubicBezTo>
                <a:cubicBezTo>
                  <a:pt x="8686800" y="0"/>
                  <a:pt x="10515600" y="320040"/>
                  <a:pt x="12188952" y="109728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wave dark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347472"/>
                </a:moveTo>
                <a:cubicBezTo>
                  <a:pt x="2377440" y="164592"/>
                  <a:pt x="4389120" y="502920"/>
                  <a:pt x="6583680" y="320040"/>
                </a:cubicBezTo>
                <a:cubicBezTo>
                  <a:pt x="8778240" y="164592"/>
                  <a:pt x="10515600" y="457200"/>
                  <a:pt x="12188952" y="274320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Placement Tracker  |  NoSQL Database Project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Demo – Dashboard</a:t>
            </a:r>
            <a:endParaRPr lang="en-US" sz="3200" dirty="0"/>
          </a:p>
        </p:txBody>
      </p:sp>
      <p:sp>
        <p:nvSpPr>
          <p:cNvPr id="13" name="callout card"/>
          <p:cNvSpPr/>
          <p:nvPr/>
        </p:nvSpPr>
        <p:spPr>
          <a:xfrm>
            <a:off x="8183880" y="132588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number circle"/>
          <p:cNvSpPr/>
          <p:nvPr/>
        </p:nvSpPr>
        <p:spPr>
          <a:xfrm>
            <a:off x="8366760" y="150876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83667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91540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Summary cards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2011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Applications, in progress, interviews, offers</a:t>
            </a:r>
            <a:endParaRPr lang="en-US" sz="1300" dirty="0"/>
          </a:p>
        </p:txBody>
      </p:sp>
      <p:sp>
        <p:nvSpPr>
          <p:cNvPr id="18" name="callout card"/>
          <p:cNvSpPr/>
          <p:nvPr/>
        </p:nvSpPr>
        <p:spPr>
          <a:xfrm>
            <a:off x="8183880" y="283464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number circle"/>
          <p:cNvSpPr/>
          <p:nvPr/>
        </p:nvSpPr>
        <p:spPr>
          <a:xfrm>
            <a:off x="8366760" y="301752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36676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915400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Application stages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366760" y="3520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How many applications are at each stage</a:t>
            </a:r>
            <a:endParaRPr lang="en-US" sz="1300" dirty="0"/>
          </a:p>
        </p:txBody>
      </p:sp>
      <p:sp>
        <p:nvSpPr>
          <p:cNvPr id="23" name="callout card"/>
          <p:cNvSpPr/>
          <p:nvPr/>
        </p:nvSpPr>
        <p:spPr>
          <a:xfrm>
            <a:off x="8183880" y="434340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number circle"/>
          <p:cNvSpPr/>
          <p:nvPr/>
        </p:nvSpPr>
        <p:spPr>
          <a:xfrm>
            <a:off x="8366760" y="452628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836676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915400" y="4526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Student filter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8366760" y="5029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Show one student or all students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9205705-C704-E328-28BB-2284A8066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56" y="1377559"/>
            <a:ext cx="7597243" cy="42400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wave light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201168"/>
                </a:moveTo>
                <a:cubicBezTo>
                  <a:pt x="2286000" y="0"/>
                  <a:pt x="4114800" y="365760"/>
                  <a:pt x="6400800" y="164592"/>
                </a:cubicBezTo>
                <a:cubicBezTo>
                  <a:pt x="8686800" y="0"/>
                  <a:pt x="10515600" y="320040"/>
                  <a:pt x="12188952" y="109728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wave dark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347472"/>
                </a:moveTo>
                <a:cubicBezTo>
                  <a:pt x="2377440" y="164592"/>
                  <a:pt x="4389120" y="502920"/>
                  <a:pt x="6583680" y="320040"/>
                </a:cubicBezTo>
                <a:cubicBezTo>
                  <a:pt x="8778240" y="164592"/>
                  <a:pt x="10515600" y="457200"/>
                  <a:pt x="12188952" y="274320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Placement Tracker  |  NoSQL Database Project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Demo – Applications Page</a:t>
            </a:r>
            <a:endParaRPr lang="en-US" sz="3200" dirty="0"/>
          </a:p>
        </p:txBody>
      </p:sp>
      <p:pic>
        <p:nvPicPr>
          <p:cNvPr id="7" name="add application form screenshot" descr="/tmp/claude-0/-home-claude/f5a9ce10-c4e4-5bb8-8020-e03c6c8d8949/scratchpad/shots/for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5486400" cy="3429000"/>
          </a:xfrm>
          <a:prstGeom prst="rect">
            <a:avLst/>
          </a:prstGeom>
        </p:spPr>
      </p:pic>
      <p:sp>
        <p:nvSpPr>
          <p:cNvPr id="12" name="pattern card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777240" y="50749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Every page:</a:t>
            </a:r>
            <a:endParaRPr lang="en-US" sz="1700" dirty="0"/>
          </a:p>
        </p:txBody>
      </p:sp>
      <p:sp>
        <p:nvSpPr>
          <p:cNvPr id="14" name="tag"/>
          <p:cNvSpPr/>
          <p:nvPr/>
        </p:nvSpPr>
        <p:spPr>
          <a:xfrm>
            <a:off x="2331720" y="5376672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2331720" y="5376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List</a:t>
            </a:r>
            <a:endParaRPr lang="en-US" sz="1300" dirty="0"/>
          </a:p>
        </p:txBody>
      </p:sp>
      <p:sp>
        <p:nvSpPr>
          <p:cNvPr id="16" name="arrow"/>
          <p:cNvSpPr/>
          <p:nvPr/>
        </p:nvSpPr>
        <p:spPr>
          <a:xfrm>
            <a:off x="3840480" y="5413248"/>
            <a:ext cx="274320" cy="274320"/>
          </a:xfrm>
          <a:prstGeom prst="rightArrow">
            <a:avLst/>
          </a:prstGeom>
          <a:solidFill>
            <a:srgbClr val="A5ADBF"/>
          </a:solidFill>
          <a:ln w="12700">
            <a:solidFill>
              <a:srgbClr val="A5A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ag"/>
          <p:cNvSpPr/>
          <p:nvPr/>
        </p:nvSpPr>
        <p:spPr>
          <a:xfrm>
            <a:off x="4160520" y="5376672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4160520" y="5376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Search</a:t>
            </a:r>
            <a:endParaRPr lang="en-US" sz="1300" dirty="0"/>
          </a:p>
        </p:txBody>
      </p:sp>
      <p:sp>
        <p:nvSpPr>
          <p:cNvPr id="19" name="arrow"/>
          <p:cNvSpPr/>
          <p:nvPr/>
        </p:nvSpPr>
        <p:spPr>
          <a:xfrm>
            <a:off x="5669280" y="5413248"/>
            <a:ext cx="274320" cy="274320"/>
          </a:xfrm>
          <a:prstGeom prst="rightArrow">
            <a:avLst/>
          </a:prstGeom>
          <a:solidFill>
            <a:srgbClr val="A5ADBF"/>
          </a:solidFill>
          <a:ln w="12700">
            <a:solidFill>
              <a:srgbClr val="A5A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ag"/>
          <p:cNvSpPr/>
          <p:nvPr/>
        </p:nvSpPr>
        <p:spPr>
          <a:xfrm>
            <a:off x="5989320" y="5376672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5989320" y="5376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Add</a:t>
            </a:r>
            <a:endParaRPr lang="en-US" sz="1300" dirty="0"/>
          </a:p>
        </p:txBody>
      </p:sp>
      <p:sp>
        <p:nvSpPr>
          <p:cNvPr id="22" name="arrow"/>
          <p:cNvSpPr/>
          <p:nvPr/>
        </p:nvSpPr>
        <p:spPr>
          <a:xfrm>
            <a:off x="7498080" y="5413248"/>
            <a:ext cx="274320" cy="274320"/>
          </a:xfrm>
          <a:prstGeom prst="rightArrow">
            <a:avLst/>
          </a:prstGeom>
          <a:solidFill>
            <a:srgbClr val="A5ADBF"/>
          </a:solidFill>
          <a:ln w="12700">
            <a:solidFill>
              <a:srgbClr val="A5A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ag"/>
          <p:cNvSpPr/>
          <p:nvPr/>
        </p:nvSpPr>
        <p:spPr>
          <a:xfrm>
            <a:off x="7818120" y="5376672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7818120" y="5376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Edit</a:t>
            </a:r>
            <a:endParaRPr lang="en-US" sz="1300" dirty="0"/>
          </a:p>
        </p:txBody>
      </p:sp>
      <p:sp>
        <p:nvSpPr>
          <p:cNvPr id="25" name="arrow"/>
          <p:cNvSpPr/>
          <p:nvPr/>
        </p:nvSpPr>
        <p:spPr>
          <a:xfrm>
            <a:off x="9326880" y="5413248"/>
            <a:ext cx="274320" cy="274320"/>
          </a:xfrm>
          <a:prstGeom prst="rightArrow">
            <a:avLst/>
          </a:prstGeom>
          <a:solidFill>
            <a:srgbClr val="A5ADBF"/>
          </a:solidFill>
          <a:ln w="12700">
            <a:solidFill>
              <a:srgbClr val="A5A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ag"/>
          <p:cNvSpPr/>
          <p:nvPr/>
        </p:nvSpPr>
        <p:spPr>
          <a:xfrm>
            <a:off x="9646920" y="5376672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9646920" y="5376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Delete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9C8BC9D-BF97-6D69-FF36-23D7C7745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096" y="1346191"/>
            <a:ext cx="5778731" cy="34798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wave light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201168"/>
                </a:moveTo>
                <a:cubicBezTo>
                  <a:pt x="2286000" y="0"/>
                  <a:pt x="4114800" y="365760"/>
                  <a:pt x="6400800" y="164592"/>
                </a:cubicBezTo>
                <a:cubicBezTo>
                  <a:pt x="8686800" y="0"/>
                  <a:pt x="10515600" y="320040"/>
                  <a:pt x="12188952" y="109728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wave dark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347472"/>
                </a:moveTo>
                <a:cubicBezTo>
                  <a:pt x="2377440" y="164592"/>
                  <a:pt x="4389120" y="502920"/>
                  <a:pt x="6583680" y="320040"/>
                </a:cubicBezTo>
                <a:cubicBezTo>
                  <a:pt x="8778240" y="164592"/>
                  <a:pt x="10515600" y="457200"/>
                  <a:pt x="12188952" y="274320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Placement Tracker  |  NoSQL Database Project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NoSQL Database – Amazon DynamoDB</a:t>
            </a:r>
            <a:endParaRPr lang="en-US" sz="3200" dirty="0"/>
          </a:p>
        </p:txBody>
      </p:sp>
      <p:sp>
        <p:nvSpPr>
          <p:cNvPr id="6" name="stat card"/>
          <p:cNvSpPr/>
          <p:nvPr/>
        </p:nvSpPr>
        <p:spPr>
          <a:xfrm>
            <a:off x="548640" y="1325880"/>
            <a:ext cx="2633472" cy="1325880"/>
          </a:xfrm>
          <a:prstGeom prst="roundRect">
            <a:avLst>
              <a:gd name="adj" fmla="val 6897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4E79"/>
                </a:solidFill>
              </a:rPr>
              <a:t>6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4884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95959"/>
                </a:solidFill>
              </a:rPr>
              <a:t>Tables</a:t>
            </a:r>
            <a:endParaRPr lang="en-US" sz="1500" dirty="0"/>
          </a:p>
        </p:txBody>
      </p:sp>
      <p:sp>
        <p:nvSpPr>
          <p:cNvPr id="9" name="stat card"/>
          <p:cNvSpPr/>
          <p:nvPr/>
        </p:nvSpPr>
        <p:spPr>
          <a:xfrm>
            <a:off x="3355848" y="1325880"/>
            <a:ext cx="2633472" cy="1325880"/>
          </a:xfrm>
          <a:prstGeom prst="roundRect">
            <a:avLst>
              <a:gd name="adj" fmla="val 6897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5848" y="137160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E75B6"/>
                </a:solidFill>
              </a:rPr>
              <a:t>6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3355848" y="214884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95959"/>
                </a:solidFill>
              </a:rPr>
              <a:t>Indexes (GSI)</a:t>
            </a:r>
            <a:endParaRPr lang="en-US" sz="1500" dirty="0"/>
          </a:p>
        </p:txBody>
      </p:sp>
      <p:sp>
        <p:nvSpPr>
          <p:cNvPr id="12" name="stat card"/>
          <p:cNvSpPr/>
          <p:nvPr/>
        </p:nvSpPr>
        <p:spPr>
          <a:xfrm>
            <a:off x="6163056" y="1325880"/>
            <a:ext cx="2633472" cy="1325880"/>
          </a:xfrm>
          <a:prstGeom prst="roundRect">
            <a:avLst>
              <a:gd name="adj" fmla="val 6897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63056" y="137160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4E79"/>
                </a:solidFill>
              </a:rPr>
              <a:t>0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163056" y="214884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95959"/>
                </a:solidFill>
              </a:rPr>
              <a:t>Joins</a:t>
            </a:r>
            <a:endParaRPr lang="en-US" sz="1500" dirty="0"/>
          </a:p>
        </p:txBody>
      </p:sp>
      <p:sp>
        <p:nvSpPr>
          <p:cNvPr id="15" name="stat card"/>
          <p:cNvSpPr/>
          <p:nvPr/>
        </p:nvSpPr>
        <p:spPr>
          <a:xfrm>
            <a:off x="8970264" y="1325880"/>
            <a:ext cx="2633472" cy="1325880"/>
          </a:xfrm>
          <a:prstGeom prst="roundRect">
            <a:avLst>
              <a:gd name="adj" fmla="val 6897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970264" y="137160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E75B6"/>
                </a:solidFill>
              </a:rPr>
              <a:t>JSON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8970264" y="214884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95959"/>
                </a:solidFill>
              </a:rPr>
              <a:t>Documents</a:t>
            </a:r>
            <a:endParaRPr lang="en-US" sz="1500" dirty="0"/>
          </a:p>
        </p:txBody>
      </p:sp>
      <p:graphicFrame>
        <p:nvGraphicFramePr>
          <p:cNvPr id="18" name="tab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109960" cy="307238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Primary key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Index (GSI)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Students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studentId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–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JobApplications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applicationId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studentId-index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Interviews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interviewId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applicationId-index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Offers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offerId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applicationId-index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Tasks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taskId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studentId-index, applicationId-index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ApplicationActivity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activityId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applicationId-index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wave light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201168"/>
                </a:moveTo>
                <a:cubicBezTo>
                  <a:pt x="2286000" y="0"/>
                  <a:pt x="4114800" y="365760"/>
                  <a:pt x="6400800" y="164592"/>
                </a:cubicBezTo>
                <a:cubicBezTo>
                  <a:pt x="8686800" y="0"/>
                  <a:pt x="10515600" y="320040"/>
                  <a:pt x="12188952" y="109728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wave dark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347472"/>
                </a:moveTo>
                <a:cubicBezTo>
                  <a:pt x="2377440" y="164592"/>
                  <a:pt x="4389120" y="502920"/>
                  <a:pt x="6583680" y="320040"/>
                </a:cubicBezTo>
                <a:cubicBezTo>
                  <a:pt x="8778240" y="164592"/>
                  <a:pt x="10515600" y="457200"/>
                  <a:pt x="12188952" y="274320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Placement Tracker  |  NoSQL Database Project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How Data is Stored</a:t>
            </a:r>
            <a:endParaRPr lang="en-US" sz="3200" dirty="0"/>
          </a:p>
        </p:txBody>
      </p:sp>
      <p:sp>
        <p:nvSpPr>
          <p:cNvPr id="6" name="field card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ield card header"/>
          <p:cNvSpPr/>
          <p:nvPr/>
        </p:nvSpPr>
        <p:spPr>
          <a:xfrm>
            <a:off x="548640" y="137160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371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One application record (JSON document)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applicationId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18e9e67e-…</a:t>
            </a:r>
            <a:endParaRPr lang="en-US" sz="1500" dirty="0"/>
          </a:p>
        </p:txBody>
      </p:sp>
      <p:sp>
        <p:nvSpPr>
          <p:cNvPr id="11" name="divider"/>
          <p:cNvSpPr/>
          <p:nvPr/>
        </p:nvSpPr>
        <p:spPr>
          <a:xfrm>
            <a:off x="777240" y="2514600"/>
            <a:ext cx="4937760" cy="0"/>
          </a:xfrm>
          <a:prstGeom prst="line">
            <a:avLst/>
          </a:prstGeom>
          <a:noFill/>
          <a:ln w="9525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studentId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2514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dc1ceb7c-…  (link to student)</a:t>
            </a:r>
            <a:endParaRPr lang="en-US" sz="1500" dirty="0"/>
          </a:p>
        </p:txBody>
      </p:sp>
      <p:sp>
        <p:nvSpPr>
          <p:cNvPr id="14" name="divider"/>
          <p:cNvSpPr/>
          <p:nvPr/>
        </p:nvSpPr>
        <p:spPr>
          <a:xfrm>
            <a:off x="777240" y="3017520"/>
            <a:ext cx="4937760" cy="0"/>
          </a:xfrm>
          <a:prstGeom prst="line">
            <a:avLst/>
          </a:prstGeom>
          <a:noFill/>
          <a:ln w="9525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company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Amazon</a:t>
            </a:r>
            <a:endParaRPr lang="en-US" sz="1500" dirty="0"/>
          </a:p>
        </p:txBody>
      </p:sp>
      <p:sp>
        <p:nvSpPr>
          <p:cNvPr id="17" name="divider"/>
          <p:cNvSpPr/>
          <p:nvPr/>
        </p:nvSpPr>
        <p:spPr>
          <a:xfrm>
            <a:off x="777240" y="3520440"/>
            <a:ext cx="4937760" cy="0"/>
          </a:xfrm>
          <a:prstGeom prst="line">
            <a:avLst/>
          </a:prstGeom>
          <a:noFill/>
          <a:ln w="9525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3520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jobTitle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51460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Data Engineer</a:t>
            </a:r>
            <a:endParaRPr lang="en-US" sz="1500" dirty="0"/>
          </a:p>
        </p:txBody>
      </p:sp>
      <p:sp>
        <p:nvSpPr>
          <p:cNvPr id="20" name="divider"/>
          <p:cNvSpPr/>
          <p:nvPr/>
        </p:nvSpPr>
        <p:spPr>
          <a:xfrm>
            <a:off x="777240" y="4023360"/>
            <a:ext cx="4937760" cy="0"/>
          </a:xfrm>
          <a:prstGeom prst="line">
            <a:avLst/>
          </a:prstGeom>
          <a:noFill/>
          <a:ln w="9525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4023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location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51460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Seattle, WA</a:t>
            </a:r>
            <a:endParaRPr lang="en-US" sz="1500" dirty="0"/>
          </a:p>
        </p:txBody>
      </p:sp>
      <p:sp>
        <p:nvSpPr>
          <p:cNvPr id="23" name="divider"/>
          <p:cNvSpPr/>
          <p:nvPr/>
        </p:nvSpPr>
        <p:spPr>
          <a:xfrm>
            <a:off x="777240" y="4526280"/>
            <a:ext cx="4937760" cy="0"/>
          </a:xfrm>
          <a:prstGeom prst="line">
            <a:avLst/>
          </a:prstGeom>
          <a:noFill/>
          <a:ln w="9525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77240" y="4526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status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514600" y="4526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Offer</a:t>
            </a:r>
            <a:endParaRPr lang="en-US" sz="1500" dirty="0"/>
          </a:p>
        </p:txBody>
      </p:sp>
      <p:sp>
        <p:nvSpPr>
          <p:cNvPr id="26" name="divider"/>
          <p:cNvSpPr/>
          <p:nvPr/>
        </p:nvSpPr>
        <p:spPr>
          <a:xfrm>
            <a:off x="777240" y="5029200"/>
            <a:ext cx="4937760" cy="0"/>
          </a:xfrm>
          <a:prstGeom prst="line">
            <a:avLst/>
          </a:prstGeom>
          <a:noFill/>
          <a:ln w="9525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77240" y="5029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appliedDate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514600" y="5029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2026-09-05</a:t>
            </a:r>
            <a:endParaRPr lang="en-US" sz="1500" dirty="0"/>
          </a:p>
        </p:txBody>
      </p:sp>
      <p:sp>
        <p:nvSpPr>
          <p:cNvPr id="29" name="node"/>
          <p:cNvSpPr/>
          <p:nvPr/>
        </p:nvSpPr>
        <p:spPr>
          <a:xfrm>
            <a:off x="7635240" y="137160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763524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Student</a:t>
            </a:r>
            <a:endParaRPr lang="en-US" sz="1500" dirty="0"/>
          </a:p>
        </p:txBody>
      </p:sp>
      <p:sp>
        <p:nvSpPr>
          <p:cNvPr id="31" name="arrow"/>
          <p:cNvSpPr/>
          <p:nvPr/>
        </p:nvSpPr>
        <p:spPr>
          <a:xfrm>
            <a:off x="8659368" y="2075688"/>
            <a:ext cx="320040" cy="347472"/>
          </a:xfrm>
          <a:prstGeom prst="down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node"/>
          <p:cNvSpPr/>
          <p:nvPr/>
        </p:nvSpPr>
        <p:spPr>
          <a:xfrm>
            <a:off x="7635240" y="2487168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7635240" y="24871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Job Application</a:t>
            </a:r>
            <a:endParaRPr lang="en-US" sz="1500" dirty="0"/>
          </a:p>
        </p:txBody>
      </p:sp>
      <p:sp>
        <p:nvSpPr>
          <p:cNvPr id="34" name="connector"/>
          <p:cNvSpPr/>
          <p:nvPr/>
        </p:nvSpPr>
        <p:spPr>
          <a:xfrm>
            <a:off x="7086600" y="3429000"/>
            <a:ext cx="3474720" cy="0"/>
          </a:xfrm>
          <a:prstGeom prst="line">
            <a:avLst/>
          </a:prstGeom>
          <a:noFill/>
          <a:ln w="19050">
            <a:solidFill>
              <a:srgbClr val="A5A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connector"/>
          <p:cNvSpPr/>
          <p:nvPr/>
        </p:nvSpPr>
        <p:spPr>
          <a:xfrm>
            <a:off x="8823960" y="3127248"/>
            <a:ext cx="0" cy="301752"/>
          </a:xfrm>
          <a:prstGeom prst="line">
            <a:avLst/>
          </a:prstGeom>
          <a:noFill/>
          <a:ln w="19050">
            <a:solidFill>
              <a:srgbClr val="A5A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connector"/>
          <p:cNvSpPr/>
          <p:nvPr/>
        </p:nvSpPr>
        <p:spPr>
          <a:xfrm>
            <a:off x="7086600" y="3429000"/>
            <a:ext cx="0" cy="274320"/>
          </a:xfrm>
          <a:prstGeom prst="line">
            <a:avLst/>
          </a:prstGeom>
          <a:noFill/>
          <a:ln w="19050">
            <a:solidFill>
              <a:srgbClr val="A5A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node"/>
          <p:cNvSpPr/>
          <p:nvPr/>
        </p:nvSpPr>
        <p:spPr>
          <a:xfrm>
            <a:off x="6400800" y="370332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400800" y="3703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Interviews</a:t>
            </a:r>
            <a:endParaRPr lang="en-US" sz="1500" dirty="0"/>
          </a:p>
        </p:txBody>
      </p:sp>
      <p:sp>
        <p:nvSpPr>
          <p:cNvPr id="39" name="connector"/>
          <p:cNvSpPr/>
          <p:nvPr/>
        </p:nvSpPr>
        <p:spPr>
          <a:xfrm>
            <a:off x="8823960" y="3429000"/>
            <a:ext cx="0" cy="274320"/>
          </a:xfrm>
          <a:prstGeom prst="line">
            <a:avLst/>
          </a:prstGeom>
          <a:noFill/>
          <a:ln w="19050">
            <a:solidFill>
              <a:srgbClr val="A5A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node"/>
          <p:cNvSpPr/>
          <p:nvPr/>
        </p:nvSpPr>
        <p:spPr>
          <a:xfrm>
            <a:off x="8138160" y="370332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8138160" y="3703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Offers</a:t>
            </a:r>
            <a:endParaRPr lang="en-US" sz="1500" dirty="0"/>
          </a:p>
        </p:txBody>
      </p:sp>
      <p:sp>
        <p:nvSpPr>
          <p:cNvPr id="42" name="connector"/>
          <p:cNvSpPr/>
          <p:nvPr/>
        </p:nvSpPr>
        <p:spPr>
          <a:xfrm>
            <a:off x="10561320" y="3429000"/>
            <a:ext cx="0" cy="274320"/>
          </a:xfrm>
          <a:prstGeom prst="line">
            <a:avLst/>
          </a:prstGeom>
          <a:noFill/>
          <a:ln w="19050">
            <a:solidFill>
              <a:srgbClr val="A5A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node"/>
          <p:cNvSpPr/>
          <p:nvPr/>
        </p:nvSpPr>
        <p:spPr>
          <a:xfrm>
            <a:off x="9875520" y="370332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9875520" y="3703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History</a:t>
            </a:r>
            <a:endParaRPr lang="en-US" sz="1500" dirty="0"/>
          </a:p>
        </p:txBody>
      </p:sp>
      <p:sp>
        <p:nvSpPr>
          <p:cNvPr id="45" name="node"/>
          <p:cNvSpPr/>
          <p:nvPr/>
        </p:nvSpPr>
        <p:spPr>
          <a:xfrm>
            <a:off x="10378440" y="137160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10378440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Tasks</a:t>
            </a:r>
            <a:endParaRPr lang="en-US" sz="1500" dirty="0"/>
          </a:p>
        </p:txBody>
      </p:sp>
      <p:sp>
        <p:nvSpPr>
          <p:cNvPr id="47" name="connector"/>
          <p:cNvSpPr/>
          <p:nvPr/>
        </p:nvSpPr>
        <p:spPr>
          <a:xfrm>
            <a:off x="10012680" y="1691640"/>
            <a:ext cx="365760" cy="0"/>
          </a:xfrm>
          <a:prstGeom prst="line">
            <a:avLst/>
          </a:prstGeom>
          <a:noFill/>
          <a:ln w="19050">
            <a:solidFill>
              <a:srgbClr val="A5A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6400800" y="461772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95959"/>
                </a:solidFill>
              </a:rPr>
              <a:t>Children store the parent's ID (studentId / applicationId) – no foreign keys.</a:t>
            </a:r>
            <a:endParaRPr lang="en-US" sz="15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wave light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201168"/>
                </a:moveTo>
                <a:cubicBezTo>
                  <a:pt x="2286000" y="0"/>
                  <a:pt x="4114800" y="365760"/>
                  <a:pt x="6400800" y="164592"/>
                </a:cubicBezTo>
                <a:cubicBezTo>
                  <a:pt x="8686800" y="0"/>
                  <a:pt x="10515600" y="320040"/>
                  <a:pt x="12188952" y="109728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wave dark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347472"/>
                </a:moveTo>
                <a:cubicBezTo>
                  <a:pt x="2377440" y="164592"/>
                  <a:pt x="4389120" y="502920"/>
                  <a:pt x="6583680" y="320040"/>
                </a:cubicBezTo>
                <a:cubicBezTo>
                  <a:pt x="8778240" y="164592"/>
                  <a:pt x="10515600" y="457200"/>
                  <a:pt x="12188952" y="274320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Placement Tracker  |  NoSQL Database Project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How We Installed the Database</a:t>
            </a:r>
            <a:endParaRPr lang="en-US" sz="3200" dirty="0"/>
          </a:p>
        </p:txBody>
      </p:sp>
      <p:sp>
        <p:nvSpPr>
          <p:cNvPr id="6" name="timeline line"/>
          <p:cNvSpPr/>
          <p:nvPr/>
        </p:nvSpPr>
        <p:spPr>
          <a:xfrm>
            <a:off x="1280160" y="1783080"/>
            <a:ext cx="9601200" cy="0"/>
          </a:xfrm>
          <a:prstGeom prst="line">
            <a:avLst/>
          </a:prstGeom>
          <a:noFill/>
          <a:ln w="381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icon circle"/>
          <p:cNvSpPr/>
          <p:nvPr/>
        </p:nvSpPr>
        <p:spPr>
          <a:xfrm>
            <a:off x="1417320" y="1371600"/>
            <a:ext cx="822960" cy="8229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060" y="15773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28600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</a:rPr>
              <a:t>1. Install Docker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6517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</a:rPr>
              <a:t>Docker Desktop</a:t>
            </a:r>
            <a:endParaRPr lang="en-US" sz="1400" dirty="0"/>
          </a:p>
        </p:txBody>
      </p:sp>
      <p:sp>
        <p:nvSpPr>
          <p:cNvPr id="11" name="icon circle"/>
          <p:cNvSpPr/>
          <p:nvPr/>
        </p:nvSpPr>
        <p:spPr>
          <a:xfrm>
            <a:off x="4224528" y="1371600"/>
            <a:ext cx="822960" cy="8229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0268" y="15773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55848" y="228600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</a:rPr>
              <a:t>2. Compose file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355848" y="26517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</a:rPr>
              <a:t>dynamodb-local image, port 8002</a:t>
            </a:r>
            <a:endParaRPr lang="en-US" sz="1400" dirty="0"/>
          </a:p>
        </p:txBody>
      </p:sp>
      <p:sp>
        <p:nvSpPr>
          <p:cNvPr id="15" name="icon circle"/>
          <p:cNvSpPr/>
          <p:nvPr/>
        </p:nvSpPr>
        <p:spPr>
          <a:xfrm>
            <a:off x="7031736" y="1371600"/>
            <a:ext cx="822960" cy="8229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7476" y="15773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63056" y="228600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</a:rPr>
              <a:t>3. Start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163056" y="26517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400" dirty="0"/>
          </a:p>
        </p:txBody>
      </p:sp>
      <p:sp>
        <p:nvSpPr>
          <p:cNvPr id="19" name="icon circle"/>
          <p:cNvSpPr/>
          <p:nvPr/>
        </p:nvSpPr>
        <p:spPr>
          <a:xfrm>
            <a:off x="9838944" y="1371600"/>
            <a:ext cx="822960" cy="8229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44684" y="15773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70264" y="228600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</a:rPr>
              <a:t>4. Create tables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970264" y="26517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create-tables.js</a:t>
            </a:r>
            <a:endParaRPr lang="en-US" sz="1400" dirty="0"/>
          </a:p>
        </p:txBody>
      </p:sp>
      <p:sp>
        <p:nvSpPr>
          <p:cNvPr id="23" name="field card"/>
          <p:cNvSpPr/>
          <p:nvPr/>
        </p:nvSpPr>
        <p:spPr>
          <a:xfrm>
            <a:off x="548640" y="34290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field card header"/>
          <p:cNvSpPr/>
          <p:nvPr/>
        </p:nvSpPr>
        <p:spPr>
          <a:xfrm>
            <a:off x="548640" y="342900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777240" y="3429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Docker setup (docker-compose.yml)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4069080"/>
            <a:ext cx="146304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Image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2240280" y="4069080"/>
            <a:ext cx="3566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amazon/dynamodb-local</a:t>
            </a:r>
            <a:endParaRPr lang="en-US" sz="1500" dirty="0"/>
          </a:p>
        </p:txBody>
      </p:sp>
      <p:sp>
        <p:nvSpPr>
          <p:cNvPr id="28" name="divider"/>
          <p:cNvSpPr/>
          <p:nvPr/>
        </p:nvSpPr>
        <p:spPr>
          <a:xfrm>
            <a:off x="777240" y="4491990"/>
            <a:ext cx="5029200" cy="0"/>
          </a:xfrm>
          <a:prstGeom prst="line">
            <a:avLst/>
          </a:prstGeom>
          <a:noFill/>
          <a:ln w="9525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777240" y="4491990"/>
            <a:ext cx="146304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Container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2240280" y="4491990"/>
            <a:ext cx="3566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student-placement-db</a:t>
            </a:r>
            <a:endParaRPr lang="en-US" sz="1500" dirty="0"/>
          </a:p>
        </p:txBody>
      </p:sp>
      <p:sp>
        <p:nvSpPr>
          <p:cNvPr id="31" name="divider"/>
          <p:cNvSpPr/>
          <p:nvPr/>
        </p:nvSpPr>
        <p:spPr>
          <a:xfrm>
            <a:off x="777240" y="4914900"/>
            <a:ext cx="5029200" cy="0"/>
          </a:xfrm>
          <a:prstGeom prst="line">
            <a:avLst/>
          </a:prstGeom>
          <a:noFill/>
          <a:ln w="9525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 txBox="1"/>
          <p:nvPr/>
        </p:nvSpPr>
        <p:spPr>
          <a:xfrm>
            <a:off x="777240" y="4914900"/>
            <a:ext cx="146304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Port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2240280" y="4914900"/>
            <a:ext cx="3566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8002 on PC → 8000 in container</a:t>
            </a:r>
            <a:endParaRPr lang="en-US" sz="1500" dirty="0"/>
          </a:p>
        </p:txBody>
      </p:sp>
      <p:sp>
        <p:nvSpPr>
          <p:cNvPr id="34" name="divider"/>
          <p:cNvSpPr/>
          <p:nvPr/>
        </p:nvSpPr>
        <p:spPr>
          <a:xfrm>
            <a:off x="777240" y="5337810"/>
            <a:ext cx="5029200" cy="0"/>
          </a:xfrm>
          <a:prstGeom prst="line">
            <a:avLst/>
          </a:prstGeom>
          <a:noFill/>
          <a:ln w="9525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777240" y="5337810"/>
            <a:ext cx="146304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Storage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2240280" y="5337810"/>
            <a:ext cx="3566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Named volume – data is kept</a:t>
            </a:r>
            <a:endParaRPr lang="en-US" sz="1500" dirty="0"/>
          </a:p>
        </p:txBody>
      </p:sp>
      <p:sp>
        <p:nvSpPr>
          <p:cNvPr id="37" name="result card"/>
          <p:cNvSpPr/>
          <p:nvPr/>
        </p:nvSpPr>
        <p:spPr>
          <a:xfrm>
            <a:off x="6263640" y="342900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check 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2240" y="3611880"/>
            <a:ext cx="457200" cy="4572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7086600" y="3611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Result: all 6 tables created</a:t>
            </a:r>
            <a:endParaRPr lang="en-US" sz="1700" dirty="0"/>
          </a:p>
        </p:txBody>
      </p:sp>
      <p:sp>
        <p:nvSpPr>
          <p:cNvPr id="40" name="tag"/>
          <p:cNvSpPr/>
          <p:nvPr/>
        </p:nvSpPr>
        <p:spPr>
          <a:xfrm>
            <a:off x="6492240" y="4297680"/>
            <a:ext cx="2331720" cy="347472"/>
          </a:xfrm>
          <a:prstGeom prst="roundRect">
            <a:avLst>
              <a:gd name="adj" fmla="val 2631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 txBox="1"/>
          <p:nvPr/>
        </p:nvSpPr>
        <p:spPr>
          <a:xfrm>
            <a:off x="6492240" y="42976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Students</a:t>
            </a:r>
            <a:endParaRPr lang="en-US" sz="1300" dirty="0"/>
          </a:p>
        </p:txBody>
      </p:sp>
      <p:sp>
        <p:nvSpPr>
          <p:cNvPr id="42" name="tag"/>
          <p:cNvSpPr/>
          <p:nvPr/>
        </p:nvSpPr>
        <p:spPr>
          <a:xfrm>
            <a:off x="9006840" y="4297680"/>
            <a:ext cx="2331720" cy="347472"/>
          </a:xfrm>
          <a:prstGeom prst="roundRect">
            <a:avLst>
              <a:gd name="adj" fmla="val 2631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 txBox="1"/>
          <p:nvPr/>
        </p:nvSpPr>
        <p:spPr>
          <a:xfrm>
            <a:off x="9006840" y="42976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JobApplications</a:t>
            </a:r>
            <a:endParaRPr lang="en-US" sz="1300" dirty="0"/>
          </a:p>
        </p:txBody>
      </p:sp>
      <p:sp>
        <p:nvSpPr>
          <p:cNvPr id="44" name="tag"/>
          <p:cNvSpPr/>
          <p:nvPr/>
        </p:nvSpPr>
        <p:spPr>
          <a:xfrm>
            <a:off x="6492240" y="4773168"/>
            <a:ext cx="2331720" cy="347472"/>
          </a:xfrm>
          <a:prstGeom prst="roundRect">
            <a:avLst>
              <a:gd name="adj" fmla="val 2631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 txBox="1"/>
          <p:nvPr/>
        </p:nvSpPr>
        <p:spPr>
          <a:xfrm>
            <a:off x="6492240" y="47731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Interviews</a:t>
            </a:r>
            <a:endParaRPr lang="en-US" sz="1300" dirty="0"/>
          </a:p>
        </p:txBody>
      </p:sp>
      <p:sp>
        <p:nvSpPr>
          <p:cNvPr id="46" name="tag"/>
          <p:cNvSpPr/>
          <p:nvPr/>
        </p:nvSpPr>
        <p:spPr>
          <a:xfrm>
            <a:off x="9006840" y="4773168"/>
            <a:ext cx="2331720" cy="347472"/>
          </a:xfrm>
          <a:prstGeom prst="roundRect">
            <a:avLst>
              <a:gd name="adj" fmla="val 2631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 txBox="1"/>
          <p:nvPr/>
        </p:nvSpPr>
        <p:spPr>
          <a:xfrm>
            <a:off x="9006840" y="47731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Offers</a:t>
            </a:r>
            <a:endParaRPr lang="en-US" sz="1300" dirty="0"/>
          </a:p>
        </p:txBody>
      </p:sp>
      <p:sp>
        <p:nvSpPr>
          <p:cNvPr id="48" name="tag"/>
          <p:cNvSpPr/>
          <p:nvPr/>
        </p:nvSpPr>
        <p:spPr>
          <a:xfrm>
            <a:off x="6492240" y="5248656"/>
            <a:ext cx="2331720" cy="347472"/>
          </a:xfrm>
          <a:prstGeom prst="roundRect">
            <a:avLst>
              <a:gd name="adj" fmla="val 2631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 txBox="1"/>
          <p:nvPr/>
        </p:nvSpPr>
        <p:spPr>
          <a:xfrm>
            <a:off x="6492240" y="52486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Tasks</a:t>
            </a:r>
            <a:endParaRPr lang="en-US" sz="1300" dirty="0"/>
          </a:p>
        </p:txBody>
      </p:sp>
      <p:sp>
        <p:nvSpPr>
          <p:cNvPr id="50" name="tag"/>
          <p:cNvSpPr/>
          <p:nvPr/>
        </p:nvSpPr>
        <p:spPr>
          <a:xfrm>
            <a:off x="9006840" y="5248656"/>
            <a:ext cx="2331720" cy="347472"/>
          </a:xfrm>
          <a:prstGeom prst="roundRect">
            <a:avLst>
              <a:gd name="adj" fmla="val 2631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 txBox="1"/>
          <p:nvPr/>
        </p:nvSpPr>
        <p:spPr>
          <a:xfrm>
            <a:off x="9006840" y="52486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ApplicationActivity</a:t>
            </a:r>
            <a:endParaRPr lang="en-US" sz="13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wave light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201168"/>
                </a:moveTo>
                <a:cubicBezTo>
                  <a:pt x="2286000" y="0"/>
                  <a:pt x="4114800" y="365760"/>
                  <a:pt x="6400800" y="164592"/>
                </a:cubicBezTo>
                <a:cubicBezTo>
                  <a:pt x="8686800" y="0"/>
                  <a:pt x="10515600" y="320040"/>
                  <a:pt x="12188952" y="109728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wave dark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347472"/>
                </a:moveTo>
                <a:cubicBezTo>
                  <a:pt x="2377440" y="164592"/>
                  <a:pt x="4389120" y="502920"/>
                  <a:pt x="6583680" y="320040"/>
                </a:cubicBezTo>
                <a:cubicBezTo>
                  <a:pt x="8778240" y="164592"/>
                  <a:pt x="10515600" y="457200"/>
                  <a:pt x="12188952" y="274320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Placement Tracker  |  NoSQL Database Project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6" name="tier card"/>
          <p:cNvSpPr/>
          <p:nvPr/>
        </p:nvSpPr>
        <p:spPr>
          <a:xfrm>
            <a:off x="548640" y="1417320"/>
            <a:ext cx="3246120" cy="2514600"/>
          </a:xfrm>
          <a:prstGeom prst="roundRect">
            <a:avLst>
              <a:gd name="adj" fmla="val 363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icon circle"/>
          <p:cNvSpPr/>
          <p:nvPr/>
        </p:nvSpPr>
        <p:spPr>
          <a:xfrm>
            <a:off x="1737360" y="16459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4530" y="1863090"/>
            <a:ext cx="434340" cy="4343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6517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Frontend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063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React + Vite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29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DD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localhost:5173</a:t>
            </a:r>
            <a:endParaRPr lang="en-US" sz="1300" dirty="0"/>
          </a:p>
        </p:txBody>
      </p:sp>
      <p:sp>
        <p:nvSpPr>
          <p:cNvPr id="12" name="arrow"/>
          <p:cNvSpPr/>
          <p:nvPr/>
        </p:nvSpPr>
        <p:spPr>
          <a:xfrm>
            <a:off x="3886200" y="2514600"/>
            <a:ext cx="502920" cy="365760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813048" y="297180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</a:rPr>
              <a:t>HTTP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</a:rPr>
              <a:t>JSON</a:t>
            </a:r>
            <a:endParaRPr lang="en-US" sz="1000" dirty="0"/>
          </a:p>
        </p:txBody>
      </p:sp>
      <p:sp>
        <p:nvSpPr>
          <p:cNvPr id="14" name="tier card"/>
          <p:cNvSpPr/>
          <p:nvPr/>
        </p:nvSpPr>
        <p:spPr>
          <a:xfrm>
            <a:off x="4480560" y="1417320"/>
            <a:ext cx="3246120" cy="2514600"/>
          </a:xfrm>
          <a:prstGeom prst="roundRect">
            <a:avLst>
              <a:gd name="adj" fmla="val 363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con circle"/>
          <p:cNvSpPr/>
          <p:nvPr/>
        </p:nvSpPr>
        <p:spPr>
          <a:xfrm>
            <a:off x="5669280" y="16459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86450" y="1863090"/>
            <a:ext cx="434340" cy="43434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480560" y="26517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Backend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4480560" y="3063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Node.js + Express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480560" y="3429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DD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localhost:5000/api</a:t>
            </a:r>
            <a:endParaRPr lang="en-US" sz="1300" dirty="0"/>
          </a:p>
        </p:txBody>
      </p:sp>
      <p:sp>
        <p:nvSpPr>
          <p:cNvPr id="20" name="arrow"/>
          <p:cNvSpPr/>
          <p:nvPr/>
        </p:nvSpPr>
        <p:spPr>
          <a:xfrm>
            <a:off x="7818120" y="2514600"/>
            <a:ext cx="502920" cy="365760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7744968" y="297180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</a:rPr>
              <a:t>AWS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</a:rPr>
              <a:t>SDK v3</a:t>
            </a:r>
            <a:endParaRPr lang="en-US" sz="1000" dirty="0"/>
          </a:p>
        </p:txBody>
      </p:sp>
      <p:sp>
        <p:nvSpPr>
          <p:cNvPr id="22" name="tier card"/>
          <p:cNvSpPr/>
          <p:nvPr/>
        </p:nvSpPr>
        <p:spPr>
          <a:xfrm>
            <a:off x="8412480" y="1417320"/>
            <a:ext cx="3246120" cy="2514600"/>
          </a:xfrm>
          <a:prstGeom prst="roundRect">
            <a:avLst>
              <a:gd name="adj" fmla="val 363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icon circle"/>
          <p:cNvSpPr/>
          <p:nvPr/>
        </p:nvSpPr>
        <p:spPr>
          <a:xfrm>
            <a:off x="9601200" y="16459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18370" y="1863090"/>
            <a:ext cx="434340" cy="43434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412480" y="26517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Database</a:t>
            </a:r>
            <a:endParaRPr lang="en-US" sz="2100" dirty="0"/>
          </a:p>
        </p:txBody>
      </p:sp>
      <p:sp>
        <p:nvSpPr>
          <p:cNvPr id="26" name="Text 21"/>
          <p:cNvSpPr txBox="1"/>
          <p:nvPr/>
        </p:nvSpPr>
        <p:spPr>
          <a:xfrm>
            <a:off x="8412480" y="3063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DynamoDB Local (Docker)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412480" y="3429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DD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localhost:8002</a:t>
            </a:r>
            <a:endParaRPr lang="en-US" sz="1300" dirty="0"/>
          </a:p>
        </p:txBody>
      </p:sp>
      <p:sp>
        <p:nvSpPr>
          <p:cNvPr id="28" name="why card"/>
          <p:cNvSpPr/>
          <p:nvPr/>
        </p:nvSpPr>
        <p:spPr>
          <a:xfrm>
            <a:off x="548640" y="42519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icon circle"/>
          <p:cNvSpPr/>
          <p:nvPr/>
        </p:nvSpPr>
        <p:spPr>
          <a:xfrm>
            <a:off x="777240" y="4526280"/>
            <a:ext cx="640080" cy="6400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260" y="468630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600200" y="4498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Safe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1600200" y="4892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Browser never touches the database</a:t>
            </a:r>
            <a:endParaRPr lang="en-US" sz="1400" dirty="0"/>
          </a:p>
        </p:txBody>
      </p:sp>
      <p:sp>
        <p:nvSpPr>
          <p:cNvPr id="33" name="why card"/>
          <p:cNvSpPr/>
          <p:nvPr/>
        </p:nvSpPr>
        <p:spPr>
          <a:xfrm>
            <a:off x="4297680" y="42519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icon circle"/>
          <p:cNvSpPr/>
          <p:nvPr/>
        </p:nvSpPr>
        <p:spPr>
          <a:xfrm>
            <a:off x="4526280" y="4526280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6300" y="4686300"/>
            <a:ext cx="320040" cy="32004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5349240" y="4498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Organized</a:t>
            </a:r>
            <a:endParaRPr lang="en-US" sz="1800" dirty="0"/>
          </a:p>
        </p:txBody>
      </p:sp>
      <p:sp>
        <p:nvSpPr>
          <p:cNvPr id="37" name="Text 30"/>
          <p:cNvSpPr txBox="1"/>
          <p:nvPr/>
        </p:nvSpPr>
        <p:spPr>
          <a:xfrm>
            <a:off x="5349240" y="4892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All DB code lives in backend services</a:t>
            </a:r>
            <a:endParaRPr lang="en-US" sz="1400" dirty="0"/>
          </a:p>
        </p:txBody>
      </p:sp>
      <p:sp>
        <p:nvSpPr>
          <p:cNvPr id="38" name="why card"/>
          <p:cNvSpPr/>
          <p:nvPr/>
        </p:nvSpPr>
        <p:spPr>
          <a:xfrm>
            <a:off x="8046720" y="42519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icon circle"/>
          <p:cNvSpPr/>
          <p:nvPr/>
        </p:nvSpPr>
        <p:spPr>
          <a:xfrm>
            <a:off x="8275320" y="4526280"/>
            <a:ext cx="640080" cy="6400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5340" y="4686300"/>
            <a:ext cx="320040" cy="32004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098280" y="4498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Free to run</a:t>
            </a:r>
            <a:endParaRPr lang="en-US" sz="1800" dirty="0"/>
          </a:p>
        </p:txBody>
      </p:sp>
      <p:sp>
        <p:nvSpPr>
          <p:cNvPr id="42" name="Text 34"/>
          <p:cNvSpPr txBox="1"/>
          <p:nvPr/>
        </p:nvSpPr>
        <p:spPr>
          <a:xfrm>
            <a:off x="9098280" y="4892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Local DynamoDB – no cloud cost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wave light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201168"/>
                </a:moveTo>
                <a:cubicBezTo>
                  <a:pt x="2286000" y="0"/>
                  <a:pt x="4114800" y="365760"/>
                  <a:pt x="6400800" y="164592"/>
                </a:cubicBezTo>
                <a:cubicBezTo>
                  <a:pt x="8686800" y="0"/>
                  <a:pt x="10515600" y="320040"/>
                  <a:pt x="12188952" y="109728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wave dark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347472"/>
                </a:moveTo>
                <a:cubicBezTo>
                  <a:pt x="2377440" y="164592"/>
                  <a:pt x="4389120" y="502920"/>
                  <a:pt x="6583680" y="320040"/>
                </a:cubicBezTo>
                <a:cubicBezTo>
                  <a:pt x="8778240" y="164592"/>
                  <a:pt x="10515600" y="457200"/>
                  <a:pt x="12188952" y="274320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Placement Tracker  |  NoSQL Database Project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How We Integrated the Database</a:t>
            </a:r>
            <a:endParaRPr lang="en-US" sz="3200" dirty="0"/>
          </a:p>
        </p:txBody>
      </p:sp>
      <p:sp>
        <p:nvSpPr>
          <p:cNvPr id="6" name="field card"/>
          <p:cNvSpPr/>
          <p:nvPr/>
        </p:nvSpPr>
        <p:spPr>
          <a:xfrm>
            <a:off x="548640" y="137160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ield card header"/>
          <p:cNvSpPr/>
          <p:nvPr/>
        </p:nvSpPr>
        <p:spPr>
          <a:xfrm>
            <a:off x="548640" y="1371600"/>
            <a:ext cx="5669280" cy="548640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371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 connection (db.js)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15544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Library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011680"/>
            <a:ext cx="365760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AWS SDK for JavaScript v3</a:t>
            </a:r>
            <a:endParaRPr lang="en-US" sz="1500" dirty="0"/>
          </a:p>
        </p:txBody>
      </p:sp>
      <p:sp>
        <p:nvSpPr>
          <p:cNvPr id="11" name="divider"/>
          <p:cNvSpPr/>
          <p:nvPr/>
        </p:nvSpPr>
        <p:spPr>
          <a:xfrm>
            <a:off x="777240" y="2644140"/>
            <a:ext cx="5212080" cy="0"/>
          </a:xfrm>
          <a:prstGeom prst="line">
            <a:avLst/>
          </a:prstGeom>
          <a:noFill/>
          <a:ln w="9525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2644140"/>
            <a:ext cx="15544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Endpoint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2644140"/>
            <a:ext cx="365760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localhost:8002</a:t>
            </a:r>
            <a:endParaRPr lang="en-US" sz="1500" dirty="0"/>
          </a:p>
        </p:txBody>
      </p:sp>
      <p:sp>
        <p:nvSpPr>
          <p:cNvPr id="14" name="divider"/>
          <p:cNvSpPr/>
          <p:nvPr/>
        </p:nvSpPr>
        <p:spPr>
          <a:xfrm>
            <a:off x="777240" y="3276600"/>
            <a:ext cx="5212080" cy="0"/>
          </a:xfrm>
          <a:prstGeom prst="line">
            <a:avLst/>
          </a:prstGeom>
          <a:noFill/>
          <a:ln w="9525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3276600"/>
            <a:ext cx="15544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Region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3276600"/>
            <a:ext cx="365760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us-east-1</a:t>
            </a:r>
            <a:endParaRPr lang="en-US" sz="1500" dirty="0"/>
          </a:p>
        </p:txBody>
      </p:sp>
      <p:sp>
        <p:nvSpPr>
          <p:cNvPr id="17" name="divider"/>
          <p:cNvSpPr/>
          <p:nvPr/>
        </p:nvSpPr>
        <p:spPr>
          <a:xfrm>
            <a:off x="777240" y="3909060"/>
            <a:ext cx="5212080" cy="0"/>
          </a:xfrm>
          <a:prstGeom prst="line">
            <a:avLst/>
          </a:prstGeom>
          <a:noFill/>
          <a:ln w="9525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3909060"/>
            <a:ext cx="15544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Credentials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3909060"/>
            <a:ext cx="365760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Local placeholders only</a:t>
            </a:r>
            <a:endParaRPr lang="en-US" sz="1500" dirty="0"/>
          </a:p>
        </p:txBody>
      </p:sp>
      <p:sp>
        <p:nvSpPr>
          <p:cNvPr id="20" name="divider"/>
          <p:cNvSpPr/>
          <p:nvPr/>
        </p:nvSpPr>
        <p:spPr>
          <a:xfrm>
            <a:off x="777240" y="4541520"/>
            <a:ext cx="5212080" cy="0"/>
          </a:xfrm>
          <a:prstGeom prst="line">
            <a:avLst/>
          </a:prstGeom>
          <a:noFill/>
          <a:ln w="9525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4541520"/>
            <a:ext cx="15544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Client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331720" y="4541520"/>
            <a:ext cx="365760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DocumentClient (plain JS objects)</a:t>
            </a:r>
            <a:endParaRPr lang="en-US" sz="1500" dirty="0"/>
          </a:p>
        </p:txBody>
      </p:sp>
      <p:sp>
        <p:nvSpPr>
          <p:cNvPr id="23" name="divider"/>
          <p:cNvSpPr/>
          <p:nvPr/>
        </p:nvSpPr>
        <p:spPr>
          <a:xfrm>
            <a:off x="777240" y="5173980"/>
            <a:ext cx="5212080" cy="0"/>
          </a:xfrm>
          <a:prstGeom prst="line">
            <a:avLst/>
          </a:prstGeom>
          <a:noFill/>
          <a:ln w="9525">
            <a:solidFill>
              <a:srgbClr val="D5D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77240" y="5173980"/>
            <a:ext cx="15544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Used by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331720" y="5173980"/>
            <a:ext cx="365760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Every backend service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Every request follows the same path:</a:t>
            </a:r>
            <a:endParaRPr lang="en-US" sz="1600" dirty="0"/>
          </a:p>
        </p:txBody>
      </p:sp>
      <p:sp>
        <p:nvSpPr>
          <p:cNvPr id="27" name="path step"/>
          <p:cNvSpPr/>
          <p:nvPr/>
        </p:nvSpPr>
        <p:spPr>
          <a:xfrm>
            <a:off x="6583680" y="1874520"/>
            <a:ext cx="5074920" cy="685800"/>
          </a:xfrm>
          <a:prstGeom prst="roundRect">
            <a:avLst>
              <a:gd name="adj" fmla="val 1333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766560" y="1874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Route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1874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/api/students</a:t>
            </a:r>
            <a:endParaRPr lang="en-US" sz="1400" dirty="0"/>
          </a:p>
        </p:txBody>
      </p:sp>
      <p:sp>
        <p:nvSpPr>
          <p:cNvPr id="30" name="arrow"/>
          <p:cNvSpPr/>
          <p:nvPr/>
        </p:nvSpPr>
        <p:spPr>
          <a:xfrm>
            <a:off x="8961120" y="2542032"/>
            <a:ext cx="320040" cy="347472"/>
          </a:xfrm>
          <a:prstGeom prst="downArrow">
            <a:avLst/>
          </a:prstGeom>
          <a:solidFill>
            <a:srgbClr val="A5ADBF"/>
          </a:solidFill>
          <a:ln w="12700">
            <a:solidFill>
              <a:srgbClr val="A5A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path step"/>
          <p:cNvSpPr/>
          <p:nvPr/>
        </p:nvSpPr>
        <p:spPr>
          <a:xfrm>
            <a:off x="6583680" y="2788920"/>
            <a:ext cx="5074920" cy="685800"/>
          </a:xfrm>
          <a:prstGeom prst="roundRect">
            <a:avLst>
              <a:gd name="adj" fmla="val 1333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766560" y="2788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Controller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2788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checks input · status code</a:t>
            </a:r>
            <a:endParaRPr lang="en-US" sz="1400" dirty="0"/>
          </a:p>
        </p:txBody>
      </p:sp>
      <p:sp>
        <p:nvSpPr>
          <p:cNvPr id="34" name="arrow"/>
          <p:cNvSpPr/>
          <p:nvPr/>
        </p:nvSpPr>
        <p:spPr>
          <a:xfrm>
            <a:off x="8961120" y="3456432"/>
            <a:ext cx="320040" cy="347472"/>
          </a:xfrm>
          <a:prstGeom prst="downArrow">
            <a:avLst/>
          </a:prstGeom>
          <a:solidFill>
            <a:srgbClr val="A5ADBF"/>
          </a:solidFill>
          <a:ln w="12700">
            <a:solidFill>
              <a:srgbClr val="A5A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path step"/>
          <p:cNvSpPr/>
          <p:nvPr/>
        </p:nvSpPr>
        <p:spPr>
          <a:xfrm>
            <a:off x="6583680" y="3703320"/>
            <a:ext cx="5074920" cy="685800"/>
          </a:xfrm>
          <a:prstGeom prst="roundRect">
            <a:avLst>
              <a:gd name="adj" fmla="val 1333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76656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Service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8412480" y="3703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sends DynamoDB command</a:t>
            </a:r>
            <a:endParaRPr lang="en-US" sz="1400" dirty="0"/>
          </a:p>
        </p:txBody>
      </p:sp>
      <p:sp>
        <p:nvSpPr>
          <p:cNvPr id="38" name="arrow"/>
          <p:cNvSpPr/>
          <p:nvPr/>
        </p:nvSpPr>
        <p:spPr>
          <a:xfrm>
            <a:off x="8961120" y="4370832"/>
            <a:ext cx="320040" cy="347472"/>
          </a:xfrm>
          <a:prstGeom prst="downArrow">
            <a:avLst/>
          </a:prstGeom>
          <a:solidFill>
            <a:srgbClr val="A5ADBF"/>
          </a:solidFill>
          <a:ln w="12700">
            <a:solidFill>
              <a:srgbClr val="A5A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path step"/>
          <p:cNvSpPr/>
          <p:nvPr/>
        </p:nvSpPr>
        <p:spPr>
          <a:xfrm>
            <a:off x="6583680" y="4617720"/>
            <a:ext cx="5074920" cy="685800"/>
          </a:xfrm>
          <a:prstGeom prst="roundRect">
            <a:avLst>
              <a:gd name="adj" fmla="val 1333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766560" y="4617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DynamoDB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8412480" y="4617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stores the JSON item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0" y="55321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</a:rPr>
              <a:t>Settings come from a .env file – only local placeholder keys, no real AWS secrets.</a:t>
            </a:r>
            <a:endParaRPr lang="en-US" sz="13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wave light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201168"/>
                </a:moveTo>
                <a:cubicBezTo>
                  <a:pt x="2286000" y="0"/>
                  <a:pt x="4114800" y="365760"/>
                  <a:pt x="6400800" y="164592"/>
                </a:cubicBezTo>
                <a:cubicBezTo>
                  <a:pt x="8686800" y="0"/>
                  <a:pt x="10515600" y="320040"/>
                  <a:pt x="12188952" y="109728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wave dark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347472"/>
                </a:moveTo>
                <a:cubicBezTo>
                  <a:pt x="2377440" y="164592"/>
                  <a:pt x="4389120" y="502920"/>
                  <a:pt x="6583680" y="320040"/>
                </a:cubicBezTo>
                <a:cubicBezTo>
                  <a:pt x="8778240" y="164592"/>
                  <a:pt x="10515600" y="457200"/>
                  <a:pt x="12188952" y="274320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Placement Tracker  |  NoSQL Database Project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Database Operations Implemented</a:t>
            </a:r>
            <a:endParaRPr lang="en-US" sz="3200" dirty="0"/>
          </a:p>
        </p:txBody>
      </p:sp>
      <p:sp>
        <p:nvSpPr>
          <p:cNvPr id="6" name="crud card"/>
          <p:cNvSpPr/>
          <p:nvPr/>
        </p:nvSpPr>
        <p:spPr>
          <a:xfrm>
            <a:off x="548640" y="1371600"/>
            <a:ext cx="2633472" cy="2514600"/>
          </a:xfrm>
          <a:prstGeom prst="roundRect">
            <a:avLst>
              <a:gd name="adj" fmla="val 363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BDD7EE"/>
                </a:solidFill>
              </a:rPr>
              <a:t>C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1460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Create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71800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DAE5"/>
                </a:solidFill>
              </a:rPr>
              <a:t>PutCommand</a:t>
            </a:r>
            <a:endParaRPr lang="en-US" sz="1400" dirty="0"/>
          </a:p>
        </p:txBody>
      </p:sp>
      <p:sp>
        <p:nvSpPr>
          <p:cNvPr id="10" name="crud card"/>
          <p:cNvSpPr/>
          <p:nvPr/>
        </p:nvSpPr>
        <p:spPr>
          <a:xfrm>
            <a:off x="3355848" y="1371600"/>
            <a:ext cx="2633472" cy="2514600"/>
          </a:xfrm>
          <a:prstGeom prst="roundRect">
            <a:avLst>
              <a:gd name="adj" fmla="val 363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355848" y="1463040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R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251460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971800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GetCommand · ScanCommand</a:t>
            </a:r>
            <a:endParaRPr lang="en-US" sz="1400" dirty="0"/>
          </a:p>
        </p:txBody>
      </p:sp>
      <p:sp>
        <p:nvSpPr>
          <p:cNvPr id="14" name="crud card"/>
          <p:cNvSpPr/>
          <p:nvPr/>
        </p:nvSpPr>
        <p:spPr>
          <a:xfrm>
            <a:off x="6163056" y="1371600"/>
            <a:ext cx="2633472" cy="2514600"/>
          </a:xfrm>
          <a:prstGeom prst="roundRect">
            <a:avLst>
              <a:gd name="adj" fmla="val 363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163056" y="1463040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BDD7EE"/>
                </a:solidFill>
              </a:rPr>
              <a:t>U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6163056" y="251460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Update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2971800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DAE5"/>
                </a:solidFill>
              </a:rPr>
              <a:t>PutCommand · UpdateCommand</a:t>
            </a:r>
            <a:endParaRPr lang="en-US" sz="1400" dirty="0"/>
          </a:p>
        </p:txBody>
      </p:sp>
      <p:sp>
        <p:nvSpPr>
          <p:cNvPr id="18" name="crud card"/>
          <p:cNvSpPr/>
          <p:nvPr/>
        </p:nvSpPr>
        <p:spPr>
          <a:xfrm>
            <a:off x="8970264" y="1371600"/>
            <a:ext cx="2633472" cy="2514600"/>
          </a:xfrm>
          <a:prstGeom prst="roundRect">
            <a:avLst>
              <a:gd name="adj" fmla="val 363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970264" y="1463040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D</a:t>
            </a:r>
            <a:endParaRPr lang="en-US" sz="6000" dirty="0"/>
          </a:p>
        </p:txBody>
      </p:sp>
      <p:sp>
        <p:nvSpPr>
          <p:cNvPr id="20" name="Text 18"/>
          <p:cNvSpPr txBox="1"/>
          <p:nvPr/>
        </p:nvSpPr>
        <p:spPr>
          <a:xfrm>
            <a:off x="8970264" y="251460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Delete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107424" y="2971800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DeleteCommand</a:t>
            </a:r>
            <a:endParaRPr lang="en-US" sz="1400" dirty="0"/>
          </a:p>
        </p:txBody>
      </p:sp>
      <p:sp>
        <p:nvSpPr>
          <p:cNvPr id="22" name="extra card"/>
          <p:cNvSpPr/>
          <p:nvPr/>
        </p:nvSpPr>
        <p:spPr>
          <a:xfrm>
            <a:off x="548640" y="416052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icon circle"/>
          <p:cNvSpPr/>
          <p:nvPr/>
        </p:nvSpPr>
        <p:spPr>
          <a:xfrm>
            <a:off x="777240" y="4389120"/>
            <a:ext cx="685800" cy="6858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690" y="4560570"/>
            <a:ext cx="342900" cy="3429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645920" y="4389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Query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645920" y="4800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QueryCommand on GSI indexes</a:t>
            </a:r>
            <a:endParaRPr lang="en-US" sz="1400" dirty="0"/>
          </a:p>
        </p:txBody>
      </p:sp>
      <p:sp>
        <p:nvSpPr>
          <p:cNvPr id="27" name="extra card"/>
          <p:cNvSpPr/>
          <p:nvPr/>
        </p:nvSpPr>
        <p:spPr>
          <a:xfrm>
            <a:off x="4297680" y="416052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icon circle"/>
          <p:cNvSpPr/>
          <p:nvPr/>
        </p:nvSpPr>
        <p:spPr>
          <a:xfrm>
            <a:off x="4526280" y="4389120"/>
            <a:ext cx="685800" cy="6858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7730" y="4560570"/>
            <a:ext cx="342900" cy="34290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5394960" y="4389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Transaction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5394960" y="4800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TransactWriteCommand – all or nothing</a:t>
            </a:r>
            <a:endParaRPr lang="en-US" sz="1400" dirty="0"/>
          </a:p>
        </p:txBody>
      </p:sp>
      <p:sp>
        <p:nvSpPr>
          <p:cNvPr id="32" name="extra card"/>
          <p:cNvSpPr/>
          <p:nvPr/>
        </p:nvSpPr>
        <p:spPr>
          <a:xfrm>
            <a:off x="8046720" y="416052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icon circle"/>
          <p:cNvSpPr/>
          <p:nvPr/>
        </p:nvSpPr>
        <p:spPr>
          <a:xfrm>
            <a:off x="8275320" y="4389120"/>
            <a:ext cx="685800" cy="6858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6770" y="4560570"/>
            <a:ext cx="342900" cy="3429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9144000" y="4389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Admin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9144000" y="4800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CreateTable · DescribeTable · ListTables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wave light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201168"/>
                </a:moveTo>
                <a:cubicBezTo>
                  <a:pt x="2286000" y="0"/>
                  <a:pt x="4114800" y="365760"/>
                  <a:pt x="6400800" y="164592"/>
                </a:cubicBezTo>
                <a:cubicBezTo>
                  <a:pt x="8686800" y="0"/>
                  <a:pt x="10515600" y="320040"/>
                  <a:pt x="12188952" y="109728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wave dark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347472"/>
                </a:moveTo>
                <a:cubicBezTo>
                  <a:pt x="2377440" y="164592"/>
                  <a:pt x="4389120" y="502920"/>
                  <a:pt x="6583680" y="320040"/>
                </a:cubicBezTo>
                <a:cubicBezTo>
                  <a:pt x="8778240" y="164592"/>
                  <a:pt x="10515600" y="457200"/>
                  <a:pt x="12188952" y="274320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Placement Tracker  |  NoSQL Database Project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Workflow and Business Rules</a:t>
            </a:r>
            <a:endParaRPr lang="en-US" sz="3200" dirty="0"/>
          </a:p>
        </p:txBody>
      </p:sp>
      <p:sp>
        <p:nvSpPr>
          <p:cNvPr id="6" name="timeline line"/>
          <p:cNvSpPr/>
          <p:nvPr/>
        </p:nvSpPr>
        <p:spPr>
          <a:xfrm>
            <a:off x="1280160" y="1783080"/>
            <a:ext cx="9509760" cy="0"/>
          </a:xfrm>
          <a:prstGeom prst="line">
            <a:avLst/>
          </a:prstGeom>
          <a:noFill/>
          <a:ln w="381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icon circle"/>
          <p:cNvSpPr/>
          <p:nvPr/>
        </p:nvSpPr>
        <p:spPr>
          <a:xfrm>
            <a:off x="1097280" y="1371600"/>
            <a:ext cx="822960" cy="8229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3020" y="15773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Create student</a:t>
            </a:r>
            <a:endParaRPr lang="en-US" sz="1500" dirty="0"/>
          </a:p>
        </p:txBody>
      </p:sp>
      <p:sp>
        <p:nvSpPr>
          <p:cNvPr id="10" name="icon circle"/>
          <p:cNvSpPr/>
          <p:nvPr/>
        </p:nvSpPr>
        <p:spPr>
          <a:xfrm>
            <a:off x="3383280" y="1371600"/>
            <a:ext cx="822960" cy="8229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9020" y="15773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346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Add application</a:t>
            </a:r>
            <a:endParaRPr lang="en-US" sz="1500" dirty="0"/>
          </a:p>
        </p:txBody>
      </p:sp>
      <p:sp>
        <p:nvSpPr>
          <p:cNvPr id="13" name="icon circle"/>
          <p:cNvSpPr/>
          <p:nvPr/>
        </p:nvSpPr>
        <p:spPr>
          <a:xfrm>
            <a:off x="5669280" y="1371600"/>
            <a:ext cx="822960" cy="8229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5020" y="15773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206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Schedule interview</a:t>
            </a:r>
            <a:endParaRPr lang="en-US" sz="1500" dirty="0"/>
          </a:p>
        </p:txBody>
      </p:sp>
      <p:sp>
        <p:nvSpPr>
          <p:cNvPr id="16" name="icon circle"/>
          <p:cNvSpPr/>
          <p:nvPr/>
        </p:nvSpPr>
        <p:spPr>
          <a:xfrm>
            <a:off x="7955280" y="1371600"/>
            <a:ext cx="822960" cy="8229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1020" y="15773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066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Receive offer</a:t>
            </a:r>
            <a:endParaRPr lang="en-US" sz="1500" dirty="0"/>
          </a:p>
        </p:txBody>
      </p:sp>
      <p:sp>
        <p:nvSpPr>
          <p:cNvPr id="19" name="icon circle"/>
          <p:cNvSpPr/>
          <p:nvPr/>
        </p:nvSpPr>
        <p:spPr>
          <a:xfrm>
            <a:off x="10241280" y="1371600"/>
            <a:ext cx="822960" cy="8229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47020" y="157734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6926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Record decision</a:t>
            </a:r>
            <a:endParaRPr lang="en-US" sz="1500" dirty="0"/>
          </a:p>
        </p:txBody>
      </p:sp>
      <p:sp>
        <p:nvSpPr>
          <p:cNvPr id="22" name="rule card"/>
          <p:cNvSpPr/>
          <p:nvPr/>
        </p:nvSpPr>
        <p:spPr>
          <a:xfrm>
            <a:off x="548640" y="301752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number circle"/>
          <p:cNvSpPr/>
          <p:nvPr/>
        </p:nvSpPr>
        <p:spPr>
          <a:xfrm>
            <a:off x="777240" y="3401568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 txBox="1"/>
          <p:nvPr/>
        </p:nvSpPr>
        <p:spPr>
          <a:xfrm>
            <a:off x="77724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1508760" y="3200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New interview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1508760" y="3611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</a:rPr>
              <a:t>Application moves to Interview</a:t>
            </a:r>
            <a:endParaRPr lang="en-US" sz="1500" dirty="0"/>
          </a:p>
        </p:txBody>
      </p:sp>
      <p:sp>
        <p:nvSpPr>
          <p:cNvPr id="27" name="rule card"/>
          <p:cNvSpPr/>
          <p:nvPr/>
        </p:nvSpPr>
        <p:spPr>
          <a:xfrm>
            <a:off x="6172200" y="301752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number circle"/>
          <p:cNvSpPr/>
          <p:nvPr/>
        </p:nvSpPr>
        <p:spPr>
          <a:xfrm>
            <a:off x="6400800" y="3401568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 txBox="1"/>
          <p:nvPr/>
        </p:nvSpPr>
        <p:spPr>
          <a:xfrm>
            <a:off x="640080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7132320" y="3200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New / updated offer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7132320" y="3611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</a:rPr>
              <a:t>Application moves to Offer</a:t>
            </a:r>
            <a:endParaRPr lang="en-US" sz="1500" dirty="0"/>
          </a:p>
        </p:txBody>
      </p:sp>
      <p:sp>
        <p:nvSpPr>
          <p:cNvPr id="32" name="rule card"/>
          <p:cNvSpPr/>
          <p:nvPr/>
        </p:nvSpPr>
        <p:spPr>
          <a:xfrm>
            <a:off x="548640" y="448056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number circle"/>
          <p:cNvSpPr/>
          <p:nvPr/>
        </p:nvSpPr>
        <p:spPr>
          <a:xfrm>
            <a:off x="777240" y="4864608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 txBox="1"/>
          <p:nvPr/>
        </p:nvSpPr>
        <p:spPr>
          <a:xfrm>
            <a:off x="777240" y="4864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1508760" y="46634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Offer declined</a:t>
            </a:r>
            <a:endParaRPr lang="en-US" sz="1700" dirty="0"/>
          </a:p>
        </p:txBody>
      </p:sp>
      <p:sp>
        <p:nvSpPr>
          <p:cNvPr id="36" name="Text 29"/>
          <p:cNvSpPr txBox="1"/>
          <p:nvPr/>
        </p:nvSpPr>
        <p:spPr>
          <a:xfrm>
            <a:off x="1508760" y="5074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</a:rPr>
              <a:t>Offer = Declined, application stays at Offer</a:t>
            </a:r>
            <a:endParaRPr lang="en-US" sz="1500" dirty="0"/>
          </a:p>
        </p:txBody>
      </p:sp>
      <p:sp>
        <p:nvSpPr>
          <p:cNvPr id="37" name="rule card"/>
          <p:cNvSpPr/>
          <p:nvPr/>
        </p:nvSpPr>
        <p:spPr>
          <a:xfrm>
            <a:off x="6172200" y="448056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number circle"/>
          <p:cNvSpPr/>
          <p:nvPr/>
        </p:nvSpPr>
        <p:spPr>
          <a:xfrm>
            <a:off x="6400800" y="4864608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 txBox="1"/>
          <p:nvPr/>
        </p:nvSpPr>
        <p:spPr>
          <a:xfrm>
            <a:off x="6400800" y="4864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0" name="Text 33"/>
          <p:cNvSpPr txBox="1"/>
          <p:nvPr/>
        </p:nvSpPr>
        <p:spPr>
          <a:xfrm>
            <a:off x="7132320" y="46634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Any status change</a:t>
            </a:r>
            <a:endParaRPr lang="en-US" sz="1700" dirty="0"/>
          </a:p>
        </p:txBody>
      </p:sp>
      <p:sp>
        <p:nvSpPr>
          <p:cNvPr id="41" name="Text 34"/>
          <p:cNvSpPr txBox="1"/>
          <p:nvPr/>
        </p:nvSpPr>
        <p:spPr>
          <a:xfrm>
            <a:off x="7132320" y="5074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</a:rPr>
              <a:t>Saved in ApplicationActivity (history)</a:t>
            </a:r>
            <a:endParaRPr lang="en-US" sz="15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wave light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201168"/>
                </a:moveTo>
                <a:cubicBezTo>
                  <a:pt x="2286000" y="0"/>
                  <a:pt x="4114800" y="365760"/>
                  <a:pt x="6400800" y="164592"/>
                </a:cubicBezTo>
                <a:cubicBezTo>
                  <a:pt x="8686800" y="0"/>
                  <a:pt x="10515600" y="320040"/>
                  <a:pt x="12188952" y="109728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wave dark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347472"/>
                </a:moveTo>
                <a:cubicBezTo>
                  <a:pt x="2377440" y="164592"/>
                  <a:pt x="4389120" y="502920"/>
                  <a:pt x="6583680" y="320040"/>
                </a:cubicBezTo>
                <a:cubicBezTo>
                  <a:pt x="8778240" y="164592"/>
                  <a:pt x="10515600" y="457200"/>
                  <a:pt x="12188952" y="274320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Placement Tracker  |  NoSQL Database Project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Deleting a Student Safely (Transaction)</a:t>
            </a:r>
            <a:endParaRPr lang="en-US" sz="3200" dirty="0"/>
          </a:p>
        </p:txBody>
      </p:sp>
      <p:sp>
        <p:nvSpPr>
          <p:cNvPr id="6" name="step chevron"/>
          <p:cNvSpPr/>
          <p:nvPr/>
        </p:nvSpPr>
        <p:spPr>
          <a:xfrm>
            <a:off x="548640" y="1371600"/>
            <a:ext cx="2926080" cy="914400"/>
          </a:xfrm>
          <a:prstGeom prst="homePlat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1371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1. Confirm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23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</a:rPr>
              <a:t>?confirm=DELETE required</a:t>
            </a:r>
            <a:endParaRPr lang="en-US" sz="1400" dirty="0"/>
          </a:p>
        </p:txBody>
      </p:sp>
      <p:sp>
        <p:nvSpPr>
          <p:cNvPr id="9" name="step chevron"/>
          <p:cNvSpPr/>
          <p:nvPr/>
        </p:nvSpPr>
        <p:spPr>
          <a:xfrm>
            <a:off x="3355848" y="1371600"/>
            <a:ext cx="2926080" cy="91440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675888" y="1371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2. Collect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423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</a:rPr>
              <a:t>Applications, interviews, offers, tasks, history</a:t>
            </a:r>
            <a:endParaRPr lang="en-US" sz="1400" dirty="0"/>
          </a:p>
        </p:txBody>
      </p:sp>
      <p:sp>
        <p:nvSpPr>
          <p:cNvPr id="12" name="step chevron"/>
          <p:cNvSpPr/>
          <p:nvPr/>
        </p:nvSpPr>
        <p:spPr>
          <a:xfrm>
            <a:off x="6163056" y="1371600"/>
            <a:ext cx="2926080" cy="91440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83096" y="1371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3. Check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2423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</a:rPr>
              <a:t>Over 100 records → stop, delete nothing</a:t>
            </a:r>
            <a:endParaRPr lang="en-US" sz="1400" dirty="0"/>
          </a:p>
        </p:txBody>
      </p:sp>
      <p:sp>
        <p:nvSpPr>
          <p:cNvPr id="15" name="step chevron"/>
          <p:cNvSpPr/>
          <p:nvPr/>
        </p:nvSpPr>
        <p:spPr>
          <a:xfrm>
            <a:off x="8970264" y="1371600"/>
            <a:ext cx="2926080" cy="914400"/>
          </a:xfrm>
          <a:prstGeom prst="chevron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290304" y="1371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4. Commit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061704" y="2423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</a:rPr>
              <a:t>One TransactWriteCommand</a:t>
            </a:r>
            <a:endParaRPr lang="en-US" sz="1400" dirty="0"/>
          </a:p>
        </p:txBody>
      </p:sp>
      <p:sp>
        <p:nvSpPr>
          <p:cNvPr id="18" name="stat card"/>
          <p:cNvSpPr/>
          <p:nvPr/>
        </p:nvSpPr>
        <p:spPr>
          <a:xfrm>
            <a:off x="548640" y="347472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3886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E75B6"/>
                </a:solidFill>
              </a:rPr>
              <a:t>100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63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95959"/>
                </a:solidFill>
              </a:rPr>
              <a:t>max records in one transaction</a:t>
            </a:r>
            <a:endParaRPr lang="en-US" sz="1500" dirty="0"/>
          </a:p>
        </p:txBody>
      </p:sp>
      <p:sp>
        <p:nvSpPr>
          <p:cNvPr id="21" name="transaction card"/>
          <p:cNvSpPr/>
          <p:nvPr/>
        </p:nvSpPr>
        <p:spPr>
          <a:xfrm>
            <a:off x="4114800" y="3474720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297680" y="3566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Deleted together in one transaction</a:t>
            </a:r>
            <a:endParaRPr lang="en-US" sz="1500" dirty="0"/>
          </a:p>
        </p:txBody>
      </p:sp>
      <p:sp>
        <p:nvSpPr>
          <p:cNvPr id="23" name="tag"/>
          <p:cNvSpPr/>
          <p:nvPr/>
        </p:nvSpPr>
        <p:spPr>
          <a:xfrm>
            <a:off x="4343400" y="4069080"/>
            <a:ext cx="1783080" cy="347472"/>
          </a:xfrm>
          <a:prstGeom prst="roundRect">
            <a:avLst>
              <a:gd name="adj" fmla="val 2631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343400" y="40690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Student</a:t>
            </a:r>
            <a:endParaRPr lang="en-US" sz="1300" dirty="0"/>
          </a:p>
        </p:txBody>
      </p:sp>
      <p:sp>
        <p:nvSpPr>
          <p:cNvPr id="25" name="tag"/>
          <p:cNvSpPr/>
          <p:nvPr/>
        </p:nvSpPr>
        <p:spPr>
          <a:xfrm>
            <a:off x="6263640" y="4069080"/>
            <a:ext cx="1783080" cy="347472"/>
          </a:xfrm>
          <a:prstGeom prst="roundRect">
            <a:avLst>
              <a:gd name="adj" fmla="val 2631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263640" y="40690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Applications</a:t>
            </a:r>
            <a:endParaRPr lang="en-US" sz="1300" dirty="0"/>
          </a:p>
        </p:txBody>
      </p:sp>
      <p:sp>
        <p:nvSpPr>
          <p:cNvPr id="27" name="tag"/>
          <p:cNvSpPr/>
          <p:nvPr/>
        </p:nvSpPr>
        <p:spPr>
          <a:xfrm>
            <a:off x="4343400" y="4617720"/>
            <a:ext cx="1783080" cy="347472"/>
          </a:xfrm>
          <a:prstGeom prst="roundRect">
            <a:avLst>
              <a:gd name="adj" fmla="val 2631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343400" y="46177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Interviews</a:t>
            </a:r>
            <a:endParaRPr lang="en-US" sz="1300" dirty="0"/>
          </a:p>
        </p:txBody>
      </p:sp>
      <p:sp>
        <p:nvSpPr>
          <p:cNvPr id="29" name="tag"/>
          <p:cNvSpPr/>
          <p:nvPr/>
        </p:nvSpPr>
        <p:spPr>
          <a:xfrm>
            <a:off x="6263640" y="4617720"/>
            <a:ext cx="1783080" cy="347472"/>
          </a:xfrm>
          <a:prstGeom prst="roundRect">
            <a:avLst>
              <a:gd name="adj" fmla="val 2631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263640" y="46177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Offers</a:t>
            </a:r>
            <a:endParaRPr lang="en-US" sz="1300" dirty="0"/>
          </a:p>
        </p:txBody>
      </p:sp>
      <p:sp>
        <p:nvSpPr>
          <p:cNvPr id="31" name="tag"/>
          <p:cNvSpPr/>
          <p:nvPr/>
        </p:nvSpPr>
        <p:spPr>
          <a:xfrm>
            <a:off x="4343400" y="5166360"/>
            <a:ext cx="1783080" cy="347472"/>
          </a:xfrm>
          <a:prstGeom prst="roundRect">
            <a:avLst>
              <a:gd name="adj" fmla="val 2631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343400" y="5166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Tasks</a:t>
            </a:r>
            <a:endParaRPr lang="en-US" sz="1300" dirty="0"/>
          </a:p>
        </p:txBody>
      </p:sp>
      <p:sp>
        <p:nvSpPr>
          <p:cNvPr id="33" name="tag"/>
          <p:cNvSpPr/>
          <p:nvPr/>
        </p:nvSpPr>
        <p:spPr>
          <a:xfrm>
            <a:off x="6263640" y="5166360"/>
            <a:ext cx="1783080" cy="347472"/>
          </a:xfrm>
          <a:prstGeom prst="roundRect">
            <a:avLst>
              <a:gd name="adj" fmla="val 2631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263640" y="5166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History</a:t>
            </a:r>
            <a:endParaRPr lang="en-US" sz="1300" dirty="0"/>
          </a:p>
        </p:txBody>
      </p:sp>
      <p:sp>
        <p:nvSpPr>
          <p:cNvPr id="35" name="result card"/>
          <p:cNvSpPr/>
          <p:nvPr/>
        </p:nvSpPr>
        <p:spPr>
          <a:xfrm>
            <a:off x="8595360" y="3474720"/>
            <a:ext cx="3063240" cy="2377440"/>
          </a:xfrm>
          <a:prstGeom prst="roundRect">
            <a:avLst>
              <a:gd name="adj" fmla="val 384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icon circle"/>
          <p:cNvSpPr/>
          <p:nvPr/>
        </p:nvSpPr>
        <p:spPr>
          <a:xfrm>
            <a:off x="9738360" y="3703320"/>
            <a:ext cx="777240" cy="77724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2670" y="3897630"/>
            <a:ext cx="388620" cy="388620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8732520" y="46177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All or nothing –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no orphan records</a:t>
            </a:r>
            <a:endParaRPr lang="en-US" sz="17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wave light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201168"/>
                </a:moveTo>
                <a:cubicBezTo>
                  <a:pt x="2286000" y="0"/>
                  <a:pt x="4114800" y="365760"/>
                  <a:pt x="6400800" y="164592"/>
                </a:cubicBezTo>
                <a:cubicBezTo>
                  <a:pt x="8686800" y="0"/>
                  <a:pt x="10515600" y="320040"/>
                  <a:pt x="12188952" y="109728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wave dark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347472"/>
                </a:moveTo>
                <a:cubicBezTo>
                  <a:pt x="2377440" y="164592"/>
                  <a:pt x="4389120" y="502920"/>
                  <a:pt x="6583680" y="320040"/>
                </a:cubicBezTo>
                <a:cubicBezTo>
                  <a:pt x="8778240" y="164592"/>
                  <a:pt x="10515600" y="457200"/>
                  <a:pt x="12188952" y="274320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Placement Tracker  |  NoSQL Database Project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Testing</a:t>
            </a:r>
            <a:endParaRPr lang="en-US" sz="3200" dirty="0"/>
          </a:p>
        </p:txBody>
      </p:sp>
      <p:sp>
        <p:nvSpPr>
          <p:cNvPr id="6" name="test card"/>
          <p:cNvSpPr/>
          <p:nvPr/>
        </p:nvSpPr>
        <p:spPr>
          <a:xfrm>
            <a:off x="548640" y="1371600"/>
            <a:ext cx="3886200" cy="1325880"/>
          </a:xfrm>
          <a:prstGeom prst="roundRect">
            <a:avLst>
              <a:gd name="adj" fmla="val 6897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ass 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755648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5544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Create / edit a student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9933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Data stays after refresh</a:t>
            </a:r>
            <a:endParaRPr lang="en-US" sz="1400" dirty="0"/>
          </a:p>
        </p:txBody>
      </p:sp>
      <p:sp>
        <p:nvSpPr>
          <p:cNvPr id="10" name="test card"/>
          <p:cNvSpPr/>
          <p:nvPr/>
        </p:nvSpPr>
        <p:spPr>
          <a:xfrm>
            <a:off x="4617720" y="1371600"/>
            <a:ext cx="3886200" cy="1325880"/>
          </a:xfrm>
          <a:prstGeom prst="roundRect">
            <a:avLst>
              <a:gd name="adj" fmla="val 6897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ass 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0" y="175564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5544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Schedule an interview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577840" y="19933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Application moves to Interview</a:t>
            </a:r>
            <a:endParaRPr lang="en-US" sz="1400" dirty="0"/>
          </a:p>
        </p:txBody>
      </p:sp>
      <p:sp>
        <p:nvSpPr>
          <p:cNvPr id="14" name="test card"/>
          <p:cNvSpPr/>
          <p:nvPr/>
        </p:nvSpPr>
        <p:spPr>
          <a:xfrm>
            <a:off x="548640" y="2880360"/>
            <a:ext cx="3886200" cy="1325880"/>
          </a:xfrm>
          <a:prstGeom prst="roundRect">
            <a:avLst>
              <a:gd name="adj" fmla="val 6897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ass 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3264408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063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Create / decline an offer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5021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Stage = Offer, decision = Declined</a:t>
            </a:r>
            <a:endParaRPr lang="en-US" sz="1400" dirty="0"/>
          </a:p>
        </p:txBody>
      </p:sp>
      <p:sp>
        <p:nvSpPr>
          <p:cNvPr id="18" name="test card"/>
          <p:cNvSpPr/>
          <p:nvPr/>
        </p:nvSpPr>
        <p:spPr>
          <a:xfrm>
            <a:off x="4617720" y="2880360"/>
            <a:ext cx="3886200" cy="1325880"/>
          </a:xfrm>
          <a:prstGeom prst="roundRect">
            <a:avLst>
              <a:gd name="adj" fmla="val 6897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ass 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0" y="3264408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77840" y="3063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Complete a task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5577840" y="35021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Dashboard counts update</a:t>
            </a:r>
            <a:endParaRPr lang="en-US" sz="1400" dirty="0"/>
          </a:p>
        </p:txBody>
      </p:sp>
      <p:sp>
        <p:nvSpPr>
          <p:cNvPr id="22" name="test card"/>
          <p:cNvSpPr/>
          <p:nvPr/>
        </p:nvSpPr>
        <p:spPr>
          <a:xfrm>
            <a:off x="548640" y="4389120"/>
            <a:ext cx="3886200" cy="1325880"/>
          </a:xfrm>
          <a:prstGeom prst="roundRect">
            <a:avLst>
              <a:gd name="adj" fmla="val 6897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ass 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4773168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508760" y="4572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Delete student + linked records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1508760" y="5010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Everything linked is removed</a:t>
            </a:r>
            <a:endParaRPr lang="en-US" sz="1400" dirty="0"/>
          </a:p>
        </p:txBody>
      </p:sp>
      <p:sp>
        <p:nvSpPr>
          <p:cNvPr id="26" name="test card"/>
          <p:cNvSpPr/>
          <p:nvPr/>
        </p:nvSpPr>
        <p:spPr>
          <a:xfrm>
            <a:off x="4617720" y="4389120"/>
            <a:ext cx="3886200" cy="1325880"/>
          </a:xfrm>
          <a:prstGeom prst="roundRect">
            <a:avLst>
              <a:gd name="adj" fmla="val 6897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pass 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0" y="4773168"/>
            <a:ext cx="548640" cy="54864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577840" y="4572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Restart server, refresh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5577840" y="5010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Records still in DynamoDB</a:t>
            </a:r>
            <a:endParaRPr lang="en-US" sz="1400" dirty="0"/>
          </a:p>
        </p:txBody>
      </p:sp>
      <p:sp>
        <p:nvSpPr>
          <p:cNvPr id="30" name="score card"/>
          <p:cNvSpPr/>
          <p:nvPr/>
        </p:nvSpPr>
        <p:spPr>
          <a:xfrm>
            <a:off x="8778240" y="1371600"/>
            <a:ext cx="2880360" cy="4343400"/>
          </a:xfrm>
          <a:prstGeom prst="roundRect">
            <a:avLst>
              <a:gd name="adj" fmla="val 3175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 txBox="1"/>
          <p:nvPr/>
        </p:nvSpPr>
        <p:spPr>
          <a:xfrm>
            <a:off x="8778240" y="20116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9DC3E6"/>
                </a:solidFill>
              </a:rPr>
              <a:t>6 / 6</a:t>
            </a:r>
            <a:endParaRPr lang="en-US" sz="6000" dirty="0"/>
          </a:p>
        </p:txBody>
      </p:sp>
      <p:sp>
        <p:nvSpPr>
          <p:cNvPr id="32" name="Text 24"/>
          <p:cNvSpPr txBox="1"/>
          <p:nvPr/>
        </p:nvSpPr>
        <p:spPr>
          <a:xfrm>
            <a:off x="8778240" y="3108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tests passed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9006840" y="384048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FDD"/>
                </a:solidFill>
              </a:rPr>
              <a:t>Tested by hand through the UI, PowerShell API calls and browser DevTools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wave light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201168"/>
                </a:moveTo>
                <a:cubicBezTo>
                  <a:pt x="2286000" y="0"/>
                  <a:pt x="4114800" y="365760"/>
                  <a:pt x="6400800" y="164592"/>
                </a:cubicBezTo>
                <a:cubicBezTo>
                  <a:pt x="8686800" y="0"/>
                  <a:pt x="10515600" y="320040"/>
                  <a:pt x="12188952" y="109728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wave dark"/>
          <p:cNvSpPr/>
          <p:nvPr/>
        </p:nvSpPr>
        <p:spPr>
          <a:xfrm>
            <a:off x="0" y="6217920"/>
            <a:ext cx="12191695" cy="640080"/>
          </a:xfrm>
          <a:custGeom>
            <a:avLst/>
            <a:gdLst/>
            <a:ahLst/>
            <a:cxnLst/>
            <a:rect l="l" t="t" r="r" b="b"/>
            <a:pathLst>
              <a:path w="12191695" h="640080">
                <a:moveTo>
                  <a:pt x="0" y="347472"/>
                </a:moveTo>
                <a:cubicBezTo>
                  <a:pt x="2377440" y="164592"/>
                  <a:pt x="4389120" y="502920"/>
                  <a:pt x="6583680" y="320040"/>
                </a:cubicBezTo>
                <a:cubicBezTo>
                  <a:pt x="8778240" y="164592"/>
                  <a:pt x="10515600" y="457200"/>
                  <a:pt x="12188952" y="274320"/>
                </a:cubicBezTo>
                <a:lnTo>
                  <a:pt x="1218895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Placement Tracker  |  NoSQL Database Project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Team Contributions</a:t>
            </a:r>
            <a:endParaRPr lang="en-US" sz="3200" dirty="0"/>
          </a:p>
        </p:txBody>
      </p:sp>
      <p:sp>
        <p:nvSpPr>
          <p:cNvPr id="6" name="member card"/>
          <p:cNvSpPr/>
          <p:nvPr/>
        </p:nvSpPr>
        <p:spPr>
          <a:xfrm>
            <a:off x="548640" y="137160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vatar"/>
          <p:cNvSpPr/>
          <p:nvPr/>
        </p:nvSpPr>
        <p:spPr>
          <a:xfrm>
            <a:off x="1828800" y="1600200"/>
            <a:ext cx="1005840" cy="10058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82880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43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</a:rPr>
              <a:t>Pavani</a:t>
            </a:r>
            <a:endParaRPr lang="en-US" sz="2200" dirty="0"/>
          </a:p>
        </p:txBody>
      </p:sp>
      <p:sp>
        <p:nvSpPr>
          <p:cNvPr id="10" name="tag"/>
          <p:cNvSpPr/>
          <p:nvPr/>
        </p:nvSpPr>
        <p:spPr>
          <a:xfrm>
            <a:off x="868680" y="3200400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3200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7947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React pages and dashboard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Forms, search, filters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Routing and styling</a:t>
            </a:r>
            <a:endParaRPr lang="en-US" sz="1600" dirty="0"/>
          </a:p>
        </p:txBody>
      </p:sp>
      <p:sp>
        <p:nvSpPr>
          <p:cNvPr id="13" name="member card"/>
          <p:cNvSpPr/>
          <p:nvPr/>
        </p:nvSpPr>
        <p:spPr>
          <a:xfrm>
            <a:off x="4297680" y="137160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vatar"/>
          <p:cNvSpPr/>
          <p:nvPr/>
        </p:nvSpPr>
        <p:spPr>
          <a:xfrm>
            <a:off x="5577840" y="1600200"/>
            <a:ext cx="1005840" cy="100584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57784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S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2743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</a:rPr>
              <a:t>Suma</a:t>
            </a:r>
            <a:endParaRPr lang="en-US" sz="2200" dirty="0"/>
          </a:p>
        </p:txBody>
      </p:sp>
      <p:sp>
        <p:nvSpPr>
          <p:cNvPr id="17" name="tag"/>
          <p:cNvSpPr/>
          <p:nvPr/>
        </p:nvSpPr>
        <p:spPr>
          <a:xfrm>
            <a:off x="4617720" y="3200400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617720" y="3200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37947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DynamoDB Local in Docker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Table and index design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Database setup and checks</a:t>
            </a:r>
            <a:endParaRPr lang="en-US" sz="1600" dirty="0"/>
          </a:p>
        </p:txBody>
      </p:sp>
      <p:sp>
        <p:nvSpPr>
          <p:cNvPr id="20" name="member card"/>
          <p:cNvSpPr/>
          <p:nvPr/>
        </p:nvSpPr>
        <p:spPr>
          <a:xfrm>
            <a:off x="8046720" y="137160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vatar"/>
          <p:cNvSpPr/>
          <p:nvPr/>
        </p:nvSpPr>
        <p:spPr>
          <a:xfrm>
            <a:off x="9326880" y="1600200"/>
            <a:ext cx="1005840" cy="10058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32688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A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2743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</a:rPr>
              <a:t>Anusha Madari</a:t>
            </a:r>
            <a:endParaRPr lang="en-US" sz="2200" dirty="0"/>
          </a:p>
        </p:txBody>
      </p:sp>
      <p:sp>
        <p:nvSpPr>
          <p:cNvPr id="24" name="tag"/>
          <p:cNvSpPr/>
          <p:nvPr/>
        </p:nvSpPr>
        <p:spPr>
          <a:xfrm>
            <a:off x="8366760" y="3200400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366760" y="3200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Backend, CRUD, Integration &amp; Testing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37947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Express REST API + CRUD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AWS SDK integration, rules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Cascade delete, testing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wave"/>
          <p:cNvSpPr/>
          <p:nvPr/>
        </p:nvSpPr>
        <p:spPr>
          <a:xfrm>
            <a:off x="0" y="0"/>
            <a:ext cx="12191695" cy="1371600"/>
          </a:xfrm>
          <a:custGeom>
            <a:avLst/>
            <a:gdLst/>
            <a:ahLst/>
            <a:cxnLst/>
            <a:rect l="l" t="t" r="r" b="b"/>
            <a:pathLst>
              <a:path w="12191695" h="1371600">
                <a:moveTo>
                  <a:pt x="0" y="0"/>
                </a:moveTo>
                <a:lnTo>
                  <a:pt x="12188952" y="0"/>
                </a:lnTo>
                <a:lnTo>
                  <a:pt x="12188952" y="548640"/>
                </a:lnTo>
                <a:cubicBezTo>
                  <a:pt x="10058400" y="1005840"/>
                  <a:pt x="8229600" y="274320"/>
                  <a:pt x="6089904" y="731520"/>
                </a:cubicBezTo>
                <a:cubicBezTo>
                  <a:pt x="3840480" y="1188720"/>
                  <a:pt x="2011680" y="365760"/>
                  <a:pt x="0" y="822960"/>
                </a:cubicBezTo>
                <a:close/>
              </a:path>
            </a:pathLst>
          </a:cu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wave light"/>
          <p:cNvSpPr/>
          <p:nvPr/>
        </p:nvSpPr>
        <p:spPr>
          <a:xfrm>
            <a:off x="0" y="4572000"/>
            <a:ext cx="12191695" cy="2286000"/>
          </a:xfrm>
          <a:custGeom>
            <a:avLst/>
            <a:gdLst/>
            <a:ahLst/>
            <a:cxnLst/>
            <a:rect l="l" t="t" r="r" b="b"/>
            <a:pathLst>
              <a:path w="12191695" h="2286000">
                <a:moveTo>
                  <a:pt x="0" y="640080"/>
                </a:moveTo>
                <a:cubicBezTo>
                  <a:pt x="2011680" y="91440"/>
                  <a:pt x="3840480" y="1097280"/>
                  <a:pt x="6089904" y="640080"/>
                </a:cubicBezTo>
                <a:cubicBezTo>
                  <a:pt x="8229600" y="182880"/>
                  <a:pt x="10058400" y="1005840"/>
                  <a:pt x="12188952" y="457200"/>
                </a:cubicBezTo>
                <a:lnTo>
                  <a:pt x="12188952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wave mid"/>
          <p:cNvSpPr/>
          <p:nvPr/>
        </p:nvSpPr>
        <p:spPr>
          <a:xfrm>
            <a:off x="0" y="4572000"/>
            <a:ext cx="12191695" cy="2286000"/>
          </a:xfrm>
          <a:custGeom>
            <a:avLst/>
            <a:gdLst/>
            <a:ahLst/>
            <a:cxnLst/>
            <a:rect l="l" t="t" r="r" b="b"/>
            <a:pathLst>
              <a:path w="12191695" h="2286000">
                <a:moveTo>
                  <a:pt x="0" y="1188720"/>
                </a:moveTo>
                <a:cubicBezTo>
                  <a:pt x="2286000" y="640080"/>
                  <a:pt x="4114800" y="1554480"/>
                  <a:pt x="6400800" y="1097280"/>
                </a:cubicBezTo>
                <a:cubicBezTo>
                  <a:pt x="8686800" y="640080"/>
                  <a:pt x="10515600" y="1463040"/>
                  <a:pt x="12188952" y="1005840"/>
                </a:cubicBezTo>
                <a:lnTo>
                  <a:pt x="12188952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wave dark"/>
          <p:cNvSpPr/>
          <p:nvPr/>
        </p:nvSpPr>
        <p:spPr>
          <a:xfrm>
            <a:off x="0" y="4572000"/>
            <a:ext cx="12191695" cy="2286000"/>
          </a:xfrm>
          <a:custGeom>
            <a:avLst/>
            <a:gdLst/>
            <a:ahLst/>
            <a:cxnLst/>
            <a:rect l="l" t="t" r="r" b="b"/>
            <a:pathLst>
              <a:path w="12191695" h="2286000">
                <a:moveTo>
                  <a:pt x="0" y="1691640"/>
                </a:moveTo>
                <a:cubicBezTo>
                  <a:pt x="2377440" y="1280160"/>
                  <a:pt x="4389120" y="2011680"/>
                  <a:pt x="6583680" y="1645920"/>
                </a:cubicBezTo>
                <a:cubicBezTo>
                  <a:pt x="8778240" y="1280160"/>
                  <a:pt x="10515600" y="1920240"/>
                  <a:pt x="12188952" y="1554480"/>
                </a:cubicBezTo>
                <a:lnTo>
                  <a:pt x="12188952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4E79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7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154680"/>
            <a:ext cx="10543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2E75B6"/>
                </a:solidFill>
              </a:rPr>
              <a:t>Questions?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</a:rPr>
              <a:t> 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">
      <a:dk1>
        <a:srgbClr val="262626"/>
      </a:dk1>
      <a:lt1>
        <a:srgbClr val="FFFFFF"/>
      </a:lt1>
      <a:dk2>
        <a:srgbClr val="1F4E79"/>
      </a:dk2>
      <a:lt2>
        <a:srgbClr val="E8EBF2"/>
      </a:lt2>
      <a:accent1>
        <a:srgbClr val="2E75B6"/>
      </a:accent1>
      <a:accent2>
        <a:srgbClr val="1F4E79"/>
      </a:accent2>
      <a:accent3>
        <a:srgbClr val="2E9E5B"/>
      </a:accent3>
      <a:accent4>
        <a:srgbClr val="F8C08A"/>
      </a:accent4>
      <a:accent5>
        <a:srgbClr val="5B6B8C"/>
      </a:accent5>
      <a:accent6>
        <a:srgbClr val="A5A5A5"/>
      </a:accent6>
      <a:hlink>
        <a:srgbClr val="2E75B6"/>
      </a:hlink>
      <a:folHlink>
        <a:srgbClr val="954F72"/>
      </a:folHlink>
    </a:clrScheme>
    <a:fontScheme name="Blue Wave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1339</Words>
  <Application>Microsoft Office PowerPoint</Application>
  <PresentationFormat>Widescreen</PresentationFormat>
  <Paragraphs>349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Blue Waves</vt:lpstr>
      <vt:lpstr>Student Placement Tracker</vt:lpstr>
      <vt:lpstr>What is the Project?</vt:lpstr>
      <vt:lpstr>Technologies Used</vt:lpstr>
      <vt:lpstr>Project Demonstration</vt:lpstr>
      <vt:lpstr>Demo – Dashboard</vt:lpstr>
      <vt:lpstr>Demo – Applications Page</vt:lpstr>
      <vt:lpstr>NoSQL Database – Amazon DynamoDB</vt:lpstr>
      <vt:lpstr>How Data is Stored</vt:lpstr>
      <vt:lpstr>How We Installed the Database</vt:lpstr>
      <vt:lpstr>System Architecture</vt:lpstr>
      <vt:lpstr>How We Integrated the Database</vt:lpstr>
      <vt:lpstr>Database Operations Implemented</vt:lpstr>
      <vt:lpstr>Workflow and Business Rules</vt:lpstr>
      <vt:lpstr>Deleting a Student Safely (Transaction)</vt:lpstr>
      <vt:lpstr>Testing</vt:lpstr>
      <vt:lpstr>Team Contributions</vt:lpstr>
      <vt:lpstr>Thank You!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Placement Tracker</dc:title>
  <dc:subject>PptxGenJS Presentation</dc:subject>
  <dc:creator>Pavani, Suma, Anusha Madari</dc:creator>
  <cp:lastModifiedBy>anusha goud</cp:lastModifiedBy>
  <cp:revision>3</cp:revision>
  <dcterms:created xsi:type="dcterms:W3CDTF">2026-10-30T20:35:18Z</dcterms:created>
  <dcterms:modified xsi:type="dcterms:W3CDTF">2026-10-31T00:52:38Z</dcterms:modified>
</cp:coreProperties>
</file>